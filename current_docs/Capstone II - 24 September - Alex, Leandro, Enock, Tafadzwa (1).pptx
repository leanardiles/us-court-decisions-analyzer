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Bodoni Moda"/>
      <p:regular r:id="rId17"/>
      <p:bold r:id="rId18"/>
      <p:italic r:id="rId19"/>
      <p:boldItalic r:id="rId20"/>
    </p:embeddedFont>
    <p:embeddedFont>
      <p:font typeface="Anaheim"/>
      <p:regular r:id="rId21"/>
      <p:bold r:id="rId22"/>
    </p:embeddedFont>
    <p:embeddedFont>
      <p:font typeface="Bebas Neue"/>
      <p:regular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MFMgL40qYWRo1hGB1PjajZMFq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0104E1-067A-4180-93F5-F9CAC4D92C1A}">
  <a:tblStyle styleId="{2A0104E1-067A-4180-93F5-F9CAC4D92C1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odoniModa-boldItalic.fntdata"/><Relationship Id="rId22" Type="http://schemas.openxmlformats.org/officeDocument/2006/relationships/font" Target="fonts/Anaheim-bold.fntdata"/><Relationship Id="rId21" Type="http://schemas.openxmlformats.org/officeDocument/2006/relationships/font" Target="fonts/Anaheim-regular.fntdata"/><Relationship Id="rId24" Type="http://schemas.openxmlformats.org/officeDocument/2006/relationships/font" Target="fonts/DMSans-regular.fntdata"/><Relationship Id="rId23" Type="http://schemas.openxmlformats.org/officeDocument/2006/relationships/font" Target="fonts/BebasNeu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8" Type="http://customschemas.google.com/relationships/presentationmetadata" Target="metadata"/><Relationship Id="rId27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BodoniModa-regular.fntdata"/><Relationship Id="rId16" Type="http://schemas.openxmlformats.org/officeDocument/2006/relationships/slide" Target="slides/slide11.xml"/><Relationship Id="rId19" Type="http://schemas.openxmlformats.org/officeDocument/2006/relationships/font" Target="fonts/BodoniModa-italic.fntdata"/><Relationship Id="rId18" Type="http://schemas.openxmlformats.org/officeDocument/2006/relationships/font" Target="fonts/BodoniMod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1"/>
          <p:cNvSpPr txBox="1"/>
          <p:nvPr>
            <p:ph type="ctrTitle"/>
          </p:nvPr>
        </p:nvSpPr>
        <p:spPr>
          <a:xfrm>
            <a:off x="1434150" y="1301977"/>
            <a:ext cx="6275700" cy="202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" type="subTitle"/>
          </p:nvPr>
        </p:nvSpPr>
        <p:spPr>
          <a:xfrm>
            <a:off x="1783812" y="3485463"/>
            <a:ext cx="5576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11"/>
          <p:cNvSpPr/>
          <p:nvPr/>
        </p:nvSpPr>
        <p:spPr>
          <a:xfrm>
            <a:off x="8457599" y="2043684"/>
            <a:ext cx="758379" cy="3305595"/>
          </a:xfrm>
          <a:custGeom>
            <a:rect b="b" l="l" r="r" t="t"/>
            <a:pathLst>
              <a:path extrusionOk="0" h="49561" w="11370">
                <a:moveTo>
                  <a:pt x="5696" y="0"/>
                </a:moveTo>
                <a:cubicBezTo>
                  <a:pt x="2561" y="0"/>
                  <a:pt x="0" y="2561"/>
                  <a:pt x="0" y="5696"/>
                </a:cubicBezTo>
                <a:lnTo>
                  <a:pt x="0" y="43865"/>
                </a:lnTo>
                <a:cubicBezTo>
                  <a:pt x="0" y="47021"/>
                  <a:pt x="2561" y="49560"/>
                  <a:pt x="5696" y="49560"/>
                </a:cubicBezTo>
                <a:cubicBezTo>
                  <a:pt x="8831" y="49560"/>
                  <a:pt x="11369" y="47021"/>
                  <a:pt x="11369" y="43865"/>
                </a:cubicBezTo>
                <a:lnTo>
                  <a:pt x="11369" y="5696"/>
                </a:lnTo>
                <a:cubicBezTo>
                  <a:pt x="11369" y="2561"/>
                  <a:pt x="8831" y="0"/>
                  <a:pt x="5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8827175" y="-509527"/>
            <a:ext cx="690612" cy="3084759"/>
          </a:xfrm>
          <a:custGeom>
            <a:rect b="b" l="l" r="r" t="t"/>
            <a:pathLst>
              <a:path extrusionOk="0" h="46250" w="10354">
                <a:moveTo>
                  <a:pt x="5188" y="288"/>
                </a:moveTo>
                <a:cubicBezTo>
                  <a:pt x="7881" y="288"/>
                  <a:pt x="10067" y="2473"/>
                  <a:pt x="10067" y="5167"/>
                </a:cubicBezTo>
                <a:lnTo>
                  <a:pt x="10067" y="41062"/>
                </a:lnTo>
                <a:cubicBezTo>
                  <a:pt x="10067" y="43777"/>
                  <a:pt x="7881" y="45963"/>
                  <a:pt x="5188" y="45963"/>
                </a:cubicBezTo>
                <a:cubicBezTo>
                  <a:pt x="2473" y="45963"/>
                  <a:pt x="287" y="43777"/>
                  <a:pt x="287" y="41062"/>
                </a:cubicBezTo>
                <a:lnTo>
                  <a:pt x="287" y="5167"/>
                </a:lnTo>
                <a:cubicBezTo>
                  <a:pt x="287" y="2473"/>
                  <a:pt x="2473" y="288"/>
                  <a:pt x="5188" y="288"/>
                </a:cubicBezTo>
                <a:close/>
                <a:moveTo>
                  <a:pt x="5188" y="1"/>
                </a:moveTo>
                <a:cubicBezTo>
                  <a:pt x="2318" y="1"/>
                  <a:pt x="0" y="2319"/>
                  <a:pt x="0" y="5167"/>
                </a:cubicBezTo>
                <a:lnTo>
                  <a:pt x="0" y="41062"/>
                </a:lnTo>
                <a:cubicBezTo>
                  <a:pt x="0" y="43910"/>
                  <a:pt x="2318" y="46250"/>
                  <a:pt x="5188" y="46250"/>
                </a:cubicBezTo>
                <a:cubicBezTo>
                  <a:pt x="8036" y="46250"/>
                  <a:pt x="10354" y="43910"/>
                  <a:pt x="10354" y="41062"/>
                </a:cubicBezTo>
                <a:lnTo>
                  <a:pt x="10354" y="5167"/>
                </a:lnTo>
                <a:cubicBezTo>
                  <a:pt x="10354" y="2319"/>
                  <a:pt x="8036" y="1"/>
                  <a:pt x="518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-2045125" y="4686940"/>
            <a:ext cx="3519911" cy="770701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-490604" y="509733"/>
            <a:ext cx="758371" cy="758371"/>
          </a:xfrm>
          <a:custGeom>
            <a:rect b="b" l="l" r="r" t="t"/>
            <a:pathLst>
              <a:path extrusionOk="0" h="8037" w="8037">
                <a:moveTo>
                  <a:pt x="1" y="1"/>
                </a:moveTo>
                <a:lnTo>
                  <a:pt x="1" y="8037"/>
                </a:lnTo>
                <a:lnTo>
                  <a:pt x="8036" y="8037"/>
                </a:lnTo>
                <a:lnTo>
                  <a:pt x="80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1"/>
          <p:cNvSpPr/>
          <p:nvPr/>
        </p:nvSpPr>
        <p:spPr>
          <a:xfrm>
            <a:off x="6999706" y="-279987"/>
            <a:ext cx="690599" cy="69055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1"/>
          <p:cNvSpPr/>
          <p:nvPr/>
        </p:nvSpPr>
        <p:spPr>
          <a:xfrm>
            <a:off x="-180576" y="2009150"/>
            <a:ext cx="690612" cy="3084759"/>
          </a:xfrm>
          <a:custGeom>
            <a:rect b="b" l="l" r="r" t="t"/>
            <a:pathLst>
              <a:path extrusionOk="0" h="46250" w="10354">
                <a:moveTo>
                  <a:pt x="5188" y="288"/>
                </a:moveTo>
                <a:cubicBezTo>
                  <a:pt x="7881" y="288"/>
                  <a:pt x="10067" y="2473"/>
                  <a:pt x="10067" y="5167"/>
                </a:cubicBezTo>
                <a:lnTo>
                  <a:pt x="10067" y="41062"/>
                </a:lnTo>
                <a:cubicBezTo>
                  <a:pt x="10067" y="43777"/>
                  <a:pt x="7881" y="45963"/>
                  <a:pt x="5188" y="45963"/>
                </a:cubicBezTo>
                <a:cubicBezTo>
                  <a:pt x="2473" y="45963"/>
                  <a:pt x="287" y="43777"/>
                  <a:pt x="287" y="41062"/>
                </a:cubicBezTo>
                <a:lnTo>
                  <a:pt x="287" y="5167"/>
                </a:lnTo>
                <a:cubicBezTo>
                  <a:pt x="287" y="2473"/>
                  <a:pt x="2473" y="288"/>
                  <a:pt x="5188" y="288"/>
                </a:cubicBezTo>
                <a:close/>
                <a:moveTo>
                  <a:pt x="5188" y="1"/>
                </a:moveTo>
                <a:cubicBezTo>
                  <a:pt x="2318" y="1"/>
                  <a:pt x="0" y="2319"/>
                  <a:pt x="0" y="5167"/>
                </a:cubicBezTo>
                <a:lnTo>
                  <a:pt x="0" y="41062"/>
                </a:lnTo>
                <a:cubicBezTo>
                  <a:pt x="0" y="43910"/>
                  <a:pt x="2318" y="46250"/>
                  <a:pt x="5188" y="46250"/>
                </a:cubicBezTo>
                <a:cubicBezTo>
                  <a:pt x="8036" y="46250"/>
                  <a:pt x="10354" y="43910"/>
                  <a:pt x="10354" y="41062"/>
                </a:cubicBezTo>
                <a:lnTo>
                  <a:pt x="10354" y="5167"/>
                </a:lnTo>
                <a:cubicBezTo>
                  <a:pt x="10354" y="2319"/>
                  <a:pt x="8036" y="1"/>
                  <a:pt x="518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267775" y="-173209"/>
            <a:ext cx="3519911" cy="770733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1"/>
          <p:cNvSpPr/>
          <p:nvPr/>
        </p:nvSpPr>
        <p:spPr>
          <a:xfrm>
            <a:off x="6112146" y="4751474"/>
            <a:ext cx="641674" cy="64163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1"/>
          <p:cNvSpPr/>
          <p:nvPr/>
        </p:nvSpPr>
        <p:spPr>
          <a:xfrm>
            <a:off x="2279834" y="-409883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736938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2" type="title"/>
          </p:nvPr>
        </p:nvSpPr>
        <p:spPr>
          <a:xfrm>
            <a:off x="1845900" y="1411309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" name="Google Shape;23;p12"/>
          <p:cNvSpPr txBox="1"/>
          <p:nvPr>
            <p:ph idx="3" type="title"/>
          </p:nvPr>
        </p:nvSpPr>
        <p:spPr>
          <a:xfrm>
            <a:off x="1845900" y="2830230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" name="Google Shape;24;p12"/>
          <p:cNvSpPr txBox="1"/>
          <p:nvPr>
            <p:ph idx="4" type="title"/>
          </p:nvPr>
        </p:nvSpPr>
        <p:spPr>
          <a:xfrm>
            <a:off x="4204650" y="1411309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" name="Google Shape;25;p12"/>
          <p:cNvSpPr txBox="1"/>
          <p:nvPr>
            <p:ph idx="5" type="title"/>
          </p:nvPr>
        </p:nvSpPr>
        <p:spPr>
          <a:xfrm>
            <a:off x="4204650" y="2830230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" name="Google Shape;26;p12"/>
          <p:cNvSpPr txBox="1"/>
          <p:nvPr>
            <p:ph idx="6" type="title"/>
          </p:nvPr>
        </p:nvSpPr>
        <p:spPr>
          <a:xfrm>
            <a:off x="6563400" y="1411309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" name="Google Shape;27;p12"/>
          <p:cNvSpPr txBox="1"/>
          <p:nvPr>
            <p:ph idx="7" type="title"/>
          </p:nvPr>
        </p:nvSpPr>
        <p:spPr>
          <a:xfrm>
            <a:off x="6563400" y="2830230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" name="Google Shape;28;p12"/>
          <p:cNvSpPr txBox="1"/>
          <p:nvPr>
            <p:ph idx="1" type="subTitle"/>
          </p:nvPr>
        </p:nvSpPr>
        <p:spPr>
          <a:xfrm>
            <a:off x="1050588" y="1937650"/>
            <a:ext cx="235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8" type="subTitle"/>
          </p:nvPr>
        </p:nvSpPr>
        <p:spPr>
          <a:xfrm>
            <a:off x="3409338" y="1937650"/>
            <a:ext cx="235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9" type="subTitle"/>
          </p:nvPr>
        </p:nvSpPr>
        <p:spPr>
          <a:xfrm>
            <a:off x="5751150" y="1937650"/>
            <a:ext cx="235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" name="Google Shape;31;p12"/>
          <p:cNvSpPr txBox="1"/>
          <p:nvPr>
            <p:ph idx="13" type="subTitle"/>
          </p:nvPr>
        </p:nvSpPr>
        <p:spPr>
          <a:xfrm>
            <a:off x="1033650" y="3356646"/>
            <a:ext cx="235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" name="Google Shape;32;p12"/>
          <p:cNvSpPr txBox="1"/>
          <p:nvPr>
            <p:ph idx="14" type="subTitle"/>
          </p:nvPr>
        </p:nvSpPr>
        <p:spPr>
          <a:xfrm>
            <a:off x="3392850" y="3356650"/>
            <a:ext cx="2358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15" type="subTitle"/>
          </p:nvPr>
        </p:nvSpPr>
        <p:spPr>
          <a:xfrm>
            <a:off x="5751150" y="3356646"/>
            <a:ext cx="235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" name="Google Shape;34;p12"/>
          <p:cNvSpPr/>
          <p:nvPr/>
        </p:nvSpPr>
        <p:spPr>
          <a:xfrm>
            <a:off x="1033651" y="4839800"/>
            <a:ext cx="2930287" cy="641627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2"/>
          <p:cNvSpPr/>
          <p:nvPr/>
        </p:nvSpPr>
        <p:spPr>
          <a:xfrm>
            <a:off x="6620209" y="4697492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2"/>
          <p:cNvSpPr/>
          <p:nvPr/>
        </p:nvSpPr>
        <p:spPr>
          <a:xfrm>
            <a:off x="-339901" y="-584325"/>
            <a:ext cx="690612" cy="3084759"/>
          </a:xfrm>
          <a:custGeom>
            <a:rect b="b" l="l" r="r" t="t"/>
            <a:pathLst>
              <a:path extrusionOk="0" h="46250" w="10354">
                <a:moveTo>
                  <a:pt x="5188" y="288"/>
                </a:moveTo>
                <a:cubicBezTo>
                  <a:pt x="7881" y="288"/>
                  <a:pt x="10067" y="2473"/>
                  <a:pt x="10067" y="5167"/>
                </a:cubicBezTo>
                <a:lnTo>
                  <a:pt x="10067" y="41062"/>
                </a:lnTo>
                <a:cubicBezTo>
                  <a:pt x="10067" y="43777"/>
                  <a:pt x="7881" y="45963"/>
                  <a:pt x="5188" y="45963"/>
                </a:cubicBezTo>
                <a:cubicBezTo>
                  <a:pt x="2473" y="45963"/>
                  <a:pt x="287" y="43777"/>
                  <a:pt x="287" y="41062"/>
                </a:cubicBezTo>
                <a:lnTo>
                  <a:pt x="287" y="5167"/>
                </a:lnTo>
                <a:cubicBezTo>
                  <a:pt x="287" y="2473"/>
                  <a:pt x="2473" y="288"/>
                  <a:pt x="5188" y="288"/>
                </a:cubicBezTo>
                <a:close/>
                <a:moveTo>
                  <a:pt x="5188" y="1"/>
                </a:moveTo>
                <a:cubicBezTo>
                  <a:pt x="2318" y="1"/>
                  <a:pt x="0" y="2319"/>
                  <a:pt x="0" y="5167"/>
                </a:cubicBezTo>
                <a:lnTo>
                  <a:pt x="0" y="41062"/>
                </a:lnTo>
                <a:cubicBezTo>
                  <a:pt x="0" y="43910"/>
                  <a:pt x="2318" y="46250"/>
                  <a:pt x="5188" y="46250"/>
                </a:cubicBezTo>
                <a:cubicBezTo>
                  <a:pt x="8036" y="46250"/>
                  <a:pt x="10354" y="43910"/>
                  <a:pt x="10354" y="41062"/>
                </a:cubicBezTo>
                <a:lnTo>
                  <a:pt x="10354" y="5167"/>
                </a:lnTo>
                <a:cubicBezTo>
                  <a:pt x="10354" y="2319"/>
                  <a:pt x="8036" y="1"/>
                  <a:pt x="518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/>
          <p:nvPr/>
        </p:nvSpPr>
        <p:spPr>
          <a:xfrm>
            <a:off x="566656" y="-382787"/>
            <a:ext cx="690599" cy="69055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2"/>
          <p:cNvSpPr/>
          <p:nvPr/>
        </p:nvSpPr>
        <p:spPr>
          <a:xfrm>
            <a:off x="8502321" y="-333851"/>
            <a:ext cx="641674" cy="64163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2"/>
          <p:cNvSpPr/>
          <p:nvPr/>
        </p:nvSpPr>
        <p:spPr>
          <a:xfrm>
            <a:off x="8827175" y="-509527"/>
            <a:ext cx="690612" cy="3084759"/>
          </a:xfrm>
          <a:custGeom>
            <a:rect b="b" l="l" r="r" t="t"/>
            <a:pathLst>
              <a:path extrusionOk="0" h="46250" w="10354">
                <a:moveTo>
                  <a:pt x="5188" y="288"/>
                </a:moveTo>
                <a:cubicBezTo>
                  <a:pt x="7881" y="288"/>
                  <a:pt x="10067" y="2473"/>
                  <a:pt x="10067" y="5167"/>
                </a:cubicBezTo>
                <a:lnTo>
                  <a:pt x="10067" y="41062"/>
                </a:lnTo>
                <a:cubicBezTo>
                  <a:pt x="10067" y="43777"/>
                  <a:pt x="7881" y="45963"/>
                  <a:pt x="5188" y="45963"/>
                </a:cubicBezTo>
                <a:cubicBezTo>
                  <a:pt x="2473" y="45963"/>
                  <a:pt x="287" y="43777"/>
                  <a:pt x="287" y="41062"/>
                </a:cubicBezTo>
                <a:lnTo>
                  <a:pt x="287" y="5167"/>
                </a:lnTo>
                <a:cubicBezTo>
                  <a:pt x="287" y="2473"/>
                  <a:pt x="2473" y="288"/>
                  <a:pt x="5188" y="288"/>
                </a:cubicBezTo>
                <a:close/>
                <a:moveTo>
                  <a:pt x="5188" y="1"/>
                </a:moveTo>
                <a:cubicBezTo>
                  <a:pt x="2318" y="1"/>
                  <a:pt x="0" y="2319"/>
                  <a:pt x="0" y="5167"/>
                </a:cubicBezTo>
                <a:lnTo>
                  <a:pt x="0" y="41062"/>
                </a:lnTo>
                <a:cubicBezTo>
                  <a:pt x="0" y="43910"/>
                  <a:pt x="2318" y="46250"/>
                  <a:pt x="5188" y="46250"/>
                </a:cubicBezTo>
                <a:cubicBezTo>
                  <a:pt x="8036" y="46250"/>
                  <a:pt x="10354" y="43910"/>
                  <a:pt x="10354" y="41062"/>
                </a:cubicBezTo>
                <a:lnTo>
                  <a:pt x="10354" y="5167"/>
                </a:lnTo>
                <a:cubicBezTo>
                  <a:pt x="10354" y="2319"/>
                  <a:pt x="8036" y="1"/>
                  <a:pt x="518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2"/>
          <p:cNvSpPr/>
          <p:nvPr/>
        </p:nvSpPr>
        <p:spPr>
          <a:xfrm>
            <a:off x="-1530166" y="4623217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2"/>
          <p:cNvSpPr/>
          <p:nvPr/>
        </p:nvSpPr>
        <p:spPr>
          <a:xfrm>
            <a:off x="8851634" y="3356649"/>
            <a:ext cx="641674" cy="64163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subTitle"/>
          </p:nvPr>
        </p:nvSpPr>
        <p:spPr>
          <a:xfrm>
            <a:off x="826708" y="2295175"/>
            <a:ext cx="2443200" cy="1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2" type="subTitle"/>
          </p:nvPr>
        </p:nvSpPr>
        <p:spPr>
          <a:xfrm>
            <a:off x="3352912" y="2295175"/>
            <a:ext cx="2440800" cy="1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3" type="subTitle"/>
          </p:nvPr>
        </p:nvSpPr>
        <p:spPr>
          <a:xfrm>
            <a:off x="5876750" y="2295175"/>
            <a:ext cx="2438400" cy="1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4" type="subTitle"/>
          </p:nvPr>
        </p:nvSpPr>
        <p:spPr>
          <a:xfrm>
            <a:off x="826525" y="1821600"/>
            <a:ext cx="24432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5" type="subTitle"/>
          </p:nvPr>
        </p:nvSpPr>
        <p:spPr>
          <a:xfrm>
            <a:off x="3355249" y="1821600"/>
            <a:ext cx="24408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6" type="subTitle"/>
          </p:nvPr>
        </p:nvSpPr>
        <p:spPr>
          <a:xfrm>
            <a:off x="5879078" y="1821600"/>
            <a:ext cx="24384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" name="Google Shape;50;p15"/>
          <p:cNvSpPr/>
          <p:nvPr/>
        </p:nvSpPr>
        <p:spPr>
          <a:xfrm>
            <a:off x="8765034" y="109499"/>
            <a:ext cx="641674" cy="64163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5"/>
          <p:cNvSpPr/>
          <p:nvPr/>
        </p:nvSpPr>
        <p:spPr>
          <a:xfrm flipH="1" rot="10800000">
            <a:off x="-414829" y="3670717"/>
            <a:ext cx="758371" cy="758371"/>
          </a:xfrm>
          <a:custGeom>
            <a:rect b="b" l="l" r="r" t="t"/>
            <a:pathLst>
              <a:path extrusionOk="0" h="8037" w="8037">
                <a:moveTo>
                  <a:pt x="1" y="1"/>
                </a:moveTo>
                <a:lnTo>
                  <a:pt x="1" y="8037"/>
                </a:lnTo>
                <a:lnTo>
                  <a:pt x="8036" y="8037"/>
                </a:lnTo>
                <a:lnTo>
                  <a:pt x="80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5"/>
          <p:cNvSpPr/>
          <p:nvPr/>
        </p:nvSpPr>
        <p:spPr>
          <a:xfrm flipH="1" rot="10800000">
            <a:off x="7140431" y="4766380"/>
            <a:ext cx="690599" cy="69055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5"/>
          <p:cNvSpPr/>
          <p:nvPr/>
        </p:nvSpPr>
        <p:spPr>
          <a:xfrm flipH="1" rot="10800000">
            <a:off x="408500" y="4579423"/>
            <a:ext cx="3519911" cy="770733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5"/>
          <p:cNvSpPr/>
          <p:nvPr/>
        </p:nvSpPr>
        <p:spPr>
          <a:xfrm flipH="1" rot="10800000">
            <a:off x="2420559" y="4896275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5"/>
          <p:cNvSpPr/>
          <p:nvPr/>
        </p:nvSpPr>
        <p:spPr>
          <a:xfrm>
            <a:off x="-495667" y="-209627"/>
            <a:ext cx="2615518" cy="572704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5"/>
          <p:cNvSpPr/>
          <p:nvPr/>
        </p:nvSpPr>
        <p:spPr>
          <a:xfrm flipH="1" rot="10800000">
            <a:off x="7269609" y="-327478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5"/>
          <p:cNvSpPr/>
          <p:nvPr/>
        </p:nvSpPr>
        <p:spPr>
          <a:xfrm flipH="1" rot="-5400000">
            <a:off x="7812583" y="4369823"/>
            <a:ext cx="2615518" cy="572704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/>
          <p:nvPr/>
        </p:nvSpPr>
        <p:spPr>
          <a:xfrm flipH="1" rot="10800000">
            <a:off x="-216138" y="-217175"/>
            <a:ext cx="469211" cy="2045135"/>
          </a:xfrm>
          <a:custGeom>
            <a:rect b="b" l="l" r="r" t="t"/>
            <a:pathLst>
              <a:path extrusionOk="0" h="49561" w="11370">
                <a:moveTo>
                  <a:pt x="5696" y="0"/>
                </a:moveTo>
                <a:cubicBezTo>
                  <a:pt x="2561" y="0"/>
                  <a:pt x="0" y="2561"/>
                  <a:pt x="0" y="5696"/>
                </a:cubicBezTo>
                <a:lnTo>
                  <a:pt x="0" y="43865"/>
                </a:lnTo>
                <a:cubicBezTo>
                  <a:pt x="0" y="47021"/>
                  <a:pt x="2561" y="49560"/>
                  <a:pt x="5696" y="49560"/>
                </a:cubicBezTo>
                <a:cubicBezTo>
                  <a:pt x="8831" y="49560"/>
                  <a:pt x="11369" y="47021"/>
                  <a:pt x="11369" y="43865"/>
                </a:cubicBezTo>
                <a:lnTo>
                  <a:pt x="11369" y="5696"/>
                </a:lnTo>
                <a:cubicBezTo>
                  <a:pt x="11369" y="2561"/>
                  <a:pt x="8831" y="0"/>
                  <a:pt x="5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3"/>
          <p:cNvSpPr/>
          <p:nvPr/>
        </p:nvSpPr>
        <p:spPr>
          <a:xfrm flipH="1" rot="10800000">
            <a:off x="-326839" y="4091077"/>
            <a:ext cx="690612" cy="3084759"/>
          </a:xfrm>
          <a:custGeom>
            <a:rect b="b" l="l" r="r" t="t"/>
            <a:pathLst>
              <a:path extrusionOk="0" h="46250" w="10354">
                <a:moveTo>
                  <a:pt x="5188" y="288"/>
                </a:moveTo>
                <a:cubicBezTo>
                  <a:pt x="7881" y="288"/>
                  <a:pt x="10067" y="2473"/>
                  <a:pt x="10067" y="5167"/>
                </a:cubicBezTo>
                <a:lnTo>
                  <a:pt x="10067" y="41062"/>
                </a:lnTo>
                <a:cubicBezTo>
                  <a:pt x="10067" y="43777"/>
                  <a:pt x="7881" y="45963"/>
                  <a:pt x="5188" y="45963"/>
                </a:cubicBezTo>
                <a:cubicBezTo>
                  <a:pt x="2473" y="45963"/>
                  <a:pt x="287" y="43777"/>
                  <a:pt x="287" y="41062"/>
                </a:cubicBezTo>
                <a:lnTo>
                  <a:pt x="287" y="5167"/>
                </a:lnTo>
                <a:cubicBezTo>
                  <a:pt x="287" y="2473"/>
                  <a:pt x="2473" y="288"/>
                  <a:pt x="5188" y="288"/>
                </a:cubicBezTo>
                <a:close/>
                <a:moveTo>
                  <a:pt x="5188" y="1"/>
                </a:moveTo>
                <a:cubicBezTo>
                  <a:pt x="2318" y="1"/>
                  <a:pt x="0" y="2319"/>
                  <a:pt x="0" y="5167"/>
                </a:cubicBezTo>
                <a:lnTo>
                  <a:pt x="0" y="41062"/>
                </a:lnTo>
                <a:cubicBezTo>
                  <a:pt x="0" y="43910"/>
                  <a:pt x="2318" y="46250"/>
                  <a:pt x="5188" y="46250"/>
                </a:cubicBezTo>
                <a:cubicBezTo>
                  <a:pt x="8036" y="46250"/>
                  <a:pt x="10354" y="43910"/>
                  <a:pt x="10354" y="41062"/>
                </a:cubicBezTo>
                <a:lnTo>
                  <a:pt x="10354" y="5167"/>
                </a:lnTo>
                <a:cubicBezTo>
                  <a:pt x="10354" y="2319"/>
                  <a:pt x="8036" y="1"/>
                  <a:pt x="518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3"/>
          <p:cNvSpPr/>
          <p:nvPr/>
        </p:nvSpPr>
        <p:spPr>
          <a:xfrm rot="10800000">
            <a:off x="770740" y="4865845"/>
            <a:ext cx="690599" cy="69055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3"/>
          <p:cNvSpPr/>
          <p:nvPr/>
        </p:nvSpPr>
        <p:spPr>
          <a:xfrm flipH="1" rot="10800000">
            <a:off x="6326476" y="-196608"/>
            <a:ext cx="2930287" cy="641627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3"/>
          <p:cNvSpPr/>
          <p:nvPr/>
        </p:nvSpPr>
        <p:spPr>
          <a:xfrm flipH="1" rot="10800000">
            <a:off x="3751834" y="-490028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3"/>
          <p:cNvSpPr/>
          <p:nvPr/>
        </p:nvSpPr>
        <p:spPr>
          <a:xfrm>
            <a:off x="5213059" y="4807217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3"/>
          <p:cNvSpPr/>
          <p:nvPr/>
        </p:nvSpPr>
        <p:spPr>
          <a:xfrm>
            <a:off x="8688046" y="2991383"/>
            <a:ext cx="758371" cy="758371"/>
          </a:xfrm>
          <a:custGeom>
            <a:rect b="b" l="l" r="r" t="t"/>
            <a:pathLst>
              <a:path extrusionOk="0" h="8037" w="8037">
                <a:moveTo>
                  <a:pt x="1" y="1"/>
                </a:moveTo>
                <a:lnTo>
                  <a:pt x="1" y="8037"/>
                </a:lnTo>
                <a:lnTo>
                  <a:pt x="8036" y="8037"/>
                </a:lnTo>
                <a:lnTo>
                  <a:pt x="80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833350" y="1734305"/>
            <a:ext cx="35196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2" type="subTitle"/>
          </p:nvPr>
        </p:nvSpPr>
        <p:spPr>
          <a:xfrm>
            <a:off x="4790945" y="1734297"/>
            <a:ext cx="35196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3" type="subTitle"/>
          </p:nvPr>
        </p:nvSpPr>
        <p:spPr>
          <a:xfrm>
            <a:off x="833350" y="3340550"/>
            <a:ext cx="35196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4" type="subTitle"/>
          </p:nvPr>
        </p:nvSpPr>
        <p:spPr>
          <a:xfrm>
            <a:off x="4790955" y="3340665"/>
            <a:ext cx="35196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5" type="subTitle"/>
          </p:nvPr>
        </p:nvSpPr>
        <p:spPr>
          <a:xfrm>
            <a:off x="833351" y="1231500"/>
            <a:ext cx="351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6" type="subTitle"/>
          </p:nvPr>
        </p:nvSpPr>
        <p:spPr>
          <a:xfrm>
            <a:off x="833351" y="2836553"/>
            <a:ext cx="35196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7" type="subTitle"/>
          </p:nvPr>
        </p:nvSpPr>
        <p:spPr>
          <a:xfrm>
            <a:off x="4790225" y="1231500"/>
            <a:ext cx="351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8" type="subTitle"/>
          </p:nvPr>
        </p:nvSpPr>
        <p:spPr>
          <a:xfrm>
            <a:off x="4790924" y="2837150"/>
            <a:ext cx="351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" name="Google Shape;76;p16"/>
          <p:cNvSpPr/>
          <p:nvPr/>
        </p:nvSpPr>
        <p:spPr>
          <a:xfrm flipH="1">
            <a:off x="-501891" y="4829980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 flipH="1">
            <a:off x="8273251" y="-364438"/>
            <a:ext cx="641674" cy="64163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 flipH="1">
            <a:off x="-328316" y="-377039"/>
            <a:ext cx="690612" cy="3084759"/>
          </a:xfrm>
          <a:custGeom>
            <a:rect b="b" l="l" r="r" t="t"/>
            <a:pathLst>
              <a:path extrusionOk="0" h="46250" w="10354">
                <a:moveTo>
                  <a:pt x="5188" y="288"/>
                </a:moveTo>
                <a:cubicBezTo>
                  <a:pt x="7881" y="288"/>
                  <a:pt x="10067" y="2473"/>
                  <a:pt x="10067" y="5167"/>
                </a:cubicBezTo>
                <a:lnTo>
                  <a:pt x="10067" y="41062"/>
                </a:lnTo>
                <a:cubicBezTo>
                  <a:pt x="10067" y="43777"/>
                  <a:pt x="7881" y="45963"/>
                  <a:pt x="5188" y="45963"/>
                </a:cubicBezTo>
                <a:cubicBezTo>
                  <a:pt x="2473" y="45963"/>
                  <a:pt x="287" y="43777"/>
                  <a:pt x="287" y="41062"/>
                </a:cubicBezTo>
                <a:lnTo>
                  <a:pt x="287" y="5167"/>
                </a:lnTo>
                <a:cubicBezTo>
                  <a:pt x="287" y="2473"/>
                  <a:pt x="2473" y="288"/>
                  <a:pt x="5188" y="288"/>
                </a:cubicBezTo>
                <a:close/>
                <a:moveTo>
                  <a:pt x="5188" y="1"/>
                </a:moveTo>
                <a:cubicBezTo>
                  <a:pt x="2318" y="1"/>
                  <a:pt x="0" y="2319"/>
                  <a:pt x="0" y="5167"/>
                </a:cubicBezTo>
                <a:lnTo>
                  <a:pt x="0" y="41062"/>
                </a:lnTo>
                <a:cubicBezTo>
                  <a:pt x="0" y="43910"/>
                  <a:pt x="2318" y="46250"/>
                  <a:pt x="5188" y="46250"/>
                </a:cubicBezTo>
                <a:cubicBezTo>
                  <a:pt x="8036" y="46250"/>
                  <a:pt x="10354" y="43910"/>
                  <a:pt x="10354" y="41062"/>
                </a:cubicBezTo>
                <a:lnTo>
                  <a:pt x="10354" y="5167"/>
                </a:lnTo>
                <a:cubicBezTo>
                  <a:pt x="10354" y="2319"/>
                  <a:pt x="8036" y="1"/>
                  <a:pt x="518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 flipH="1">
            <a:off x="-303837" y="3489137"/>
            <a:ext cx="641674" cy="64163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337800" y="-318503"/>
            <a:ext cx="2510693" cy="549751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 rot="5400000">
            <a:off x="7486109" y="607592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8423999" y="4829977"/>
            <a:ext cx="490920" cy="490920"/>
          </a:xfrm>
          <a:custGeom>
            <a:rect b="b" l="l" r="r" t="t"/>
            <a:pathLst>
              <a:path extrusionOk="0" h="8037" w="8037">
                <a:moveTo>
                  <a:pt x="1" y="1"/>
                </a:moveTo>
                <a:lnTo>
                  <a:pt x="1" y="8037"/>
                </a:lnTo>
                <a:lnTo>
                  <a:pt x="8036" y="8037"/>
                </a:lnTo>
                <a:lnTo>
                  <a:pt x="803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721425" y="445025"/>
            <a:ext cx="770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4707537" y="2292475"/>
            <a:ext cx="2505600" cy="16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2" type="subTitle"/>
          </p:nvPr>
        </p:nvSpPr>
        <p:spPr>
          <a:xfrm>
            <a:off x="1930875" y="2292489"/>
            <a:ext cx="2505600" cy="16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3" type="subTitle"/>
          </p:nvPr>
        </p:nvSpPr>
        <p:spPr>
          <a:xfrm>
            <a:off x="1930863" y="1790713"/>
            <a:ext cx="25056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4" type="subTitle"/>
          </p:nvPr>
        </p:nvSpPr>
        <p:spPr>
          <a:xfrm>
            <a:off x="4707538" y="1790250"/>
            <a:ext cx="2505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9" name="Google Shape;89;p13"/>
          <p:cNvSpPr/>
          <p:nvPr/>
        </p:nvSpPr>
        <p:spPr>
          <a:xfrm flipH="1" rot="10800000">
            <a:off x="6326476" y="-196608"/>
            <a:ext cx="2930287" cy="641627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 flipH="1" rot="10800000">
            <a:off x="3751834" y="-490028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898649" y="-196598"/>
            <a:ext cx="490920" cy="490920"/>
          </a:xfrm>
          <a:custGeom>
            <a:rect b="b" l="l" r="r" t="t"/>
            <a:pathLst>
              <a:path extrusionOk="0" h="8037" w="8037">
                <a:moveTo>
                  <a:pt x="1" y="1"/>
                </a:moveTo>
                <a:lnTo>
                  <a:pt x="1" y="8037"/>
                </a:lnTo>
                <a:lnTo>
                  <a:pt x="8036" y="8037"/>
                </a:lnTo>
                <a:lnTo>
                  <a:pt x="80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-180194" y="247113"/>
            <a:ext cx="690599" cy="69055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-129125" y="1549189"/>
            <a:ext cx="469211" cy="2045135"/>
          </a:xfrm>
          <a:custGeom>
            <a:rect b="b" l="l" r="r" t="t"/>
            <a:pathLst>
              <a:path extrusionOk="0" h="49561" w="11370">
                <a:moveTo>
                  <a:pt x="5696" y="0"/>
                </a:moveTo>
                <a:cubicBezTo>
                  <a:pt x="2561" y="0"/>
                  <a:pt x="0" y="2561"/>
                  <a:pt x="0" y="5696"/>
                </a:cubicBezTo>
                <a:lnTo>
                  <a:pt x="0" y="43865"/>
                </a:lnTo>
                <a:cubicBezTo>
                  <a:pt x="0" y="47021"/>
                  <a:pt x="2561" y="49560"/>
                  <a:pt x="5696" y="49560"/>
                </a:cubicBezTo>
                <a:cubicBezTo>
                  <a:pt x="8831" y="49560"/>
                  <a:pt x="11369" y="47021"/>
                  <a:pt x="11369" y="43865"/>
                </a:cubicBezTo>
                <a:lnTo>
                  <a:pt x="11369" y="5696"/>
                </a:lnTo>
                <a:cubicBezTo>
                  <a:pt x="11369" y="2561"/>
                  <a:pt x="8831" y="0"/>
                  <a:pt x="56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30824" y="2885875"/>
            <a:ext cx="690612" cy="3084759"/>
          </a:xfrm>
          <a:custGeom>
            <a:rect b="b" l="l" r="r" t="t"/>
            <a:pathLst>
              <a:path extrusionOk="0" h="46250" w="10354">
                <a:moveTo>
                  <a:pt x="5188" y="288"/>
                </a:moveTo>
                <a:cubicBezTo>
                  <a:pt x="7881" y="288"/>
                  <a:pt x="10067" y="2473"/>
                  <a:pt x="10067" y="5167"/>
                </a:cubicBezTo>
                <a:lnTo>
                  <a:pt x="10067" y="41062"/>
                </a:lnTo>
                <a:cubicBezTo>
                  <a:pt x="10067" y="43777"/>
                  <a:pt x="7881" y="45963"/>
                  <a:pt x="5188" y="45963"/>
                </a:cubicBezTo>
                <a:cubicBezTo>
                  <a:pt x="2473" y="45963"/>
                  <a:pt x="287" y="43777"/>
                  <a:pt x="287" y="41062"/>
                </a:cubicBezTo>
                <a:lnTo>
                  <a:pt x="287" y="5167"/>
                </a:lnTo>
                <a:cubicBezTo>
                  <a:pt x="287" y="2473"/>
                  <a:pt x="2473" y="288"/>
                  <a:pt x="5188" y="288"/>
                </a:cubicBezTo>
                <a:close/>
                <a:moveTo>
                  <a:pt x="5188" y="1"/>
                </a:moveTo>
                <a:cubicBezTo>
                  <a:pt x="2318" y="1"/>
                  <a:pt x="0" y="2319"/>
                  <a:pt x="0" y="5167"/>
                </a:cubicBezTo>
                <a:lnTo>
                  <a:pt x="0" y="41062"/>
                </a:lnTo>
                <a:cubicBezTo>
                  <a:pt x="0" y="43910"/>
                  <a:pt x="2318" y="46250"/>
                  <a:pt x="5188" y="46250"/>
                </a:cubicBezTo>
                <a:cubicBezTo>
                  <a:pt x="8036" y="46250"/>
                  <a:pt x="10354" y="43910"/>
                  <a:pt x="10354" y="41062"/>
                </a:cubicBezTo>
                <a:lnTo>
                  <a:pt x="10354" y="5167"/>
                </a:lnTo>
                <a:cubicBezTo>
                  <a:pt x="10354" y="2319"/>
                  <a:pt x="8036" y="1"/>
                  <a:pt x="518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3303075" y="4773515"/>
            <a:ext cx="3519911" cy="770701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5830034" y="4558267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8688046" y="2991383"/>
            <a:ext cx="758371" cy="758371"/>
          </a:xfrm>
          <a:custGeom>
            <a:rect b="b" l="l" r="r" t="t"/>
            <a:pathLst>
              <a:path extrusionOk="0" h="8037" w="8037">
                <a:moveTo>
                  <a:pt x="1" y="1"/>
                </a:moveTo>
                <a:lnTo>
                  <a:pt x="1" y="8037"/>
                </a:lnTo>
                <a:lnTo>
                  <a:pt x="8036" y="8037"/>
                </a:lnTo>
                <a:lnTo>
                  <a:pt x="80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9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idx="1" type="subTitle"/>
          </p:nvPr>
        </p:nvSpPr>
        <p:spPr>
          <a:xfrm>
            <a:off x="2193900" y="1191425"/>
            <a:ext cx="4756200" cy="1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2" type="subTitle"/>
          </p:nvPr>
        </p:nvSpPr>
        <p:spPr>
          <a:xfrm>
            <a:off x="4023000" y="3136375"/>
            <a:ext cx="29271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lt2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1" name="Google Shape;101;p14"/>
          <p:cNvSpPr/>
          <p:nvPr/>
        </p:nvSpPr>
        <p:spPr>
          <a:xfrm rot="10800000">
            <a:off x="3907268" y="4565272"/>
            <a:ext cx="3519911" cy="770733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/>
          <p:nvPr/>
        </p:nvSpPr>
        <p:spPr>
          <a:xfrm rot="10800000">
            <a:off x="5948317" y="4817174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/>
          <p:nvPr/>
        </p:nvSpPr>
        <p:spPr>
          <a:xfrm rot="10800000">
            <a:off x="8761651" y="-1074033"/>
            <a:ext cx="758379" cy="3305595"/>
          </a:xfrm>
          <a:custGeom>
            <a:rect b="b" l="l" r="r" t="t"/>
            <a:pathLst>
              <a:path extrusionOk="0" h="49561" w="11370">
                <a:moveTo>
                  <a:pt x="5696" y="0"/>
                </a:moveTo>
                <a:cubicBezTo>
                  <a:pt x="2561" y="0"/>
                  <a:pt x="0" y="2561"/>
                  <a:pt x="0" y="5696"/>
                </a:cubicBezTo>
                <a:lnTo>
                  <a:pt x="0" y="43865"/>
                </a:lnTo>
                <a:cubicBezTo>
                  <a:pt x="0" y="47021"/>
                  <a:pt x="2561" y="49560"/>
                  <a:pt x="5696" y="49560"/>
                </a:cubicBezTo>
                <a:cubicBezTo>
                  <a:pt x="8831" y="49560"/>
                  <a:pt x="11369" y="47021"/>
                  <a:pt x="11369" y="43865"/>
                </a:cubicBezTo>
                <a:lnTo>
                  <a:pt x="11369" y="5696"/>
                </a:lnTo>
                <a:cubicBezTo>
                  <a:pt x="11369" y="2561"/>
                  <a:pt x="8831" y="0"/>
                  <a:pt x="56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 rot="10800000">
            <a:off x="-277251" y="3924180"/>
            <a:ext cx="690599" cy="69055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/>
          <p:nvPr/>
        </p:nvSpPr>
        <p:spPr>
          <a:xfrm rot="10800000">
            <a:off x="1439887" y="-143302"/>
            <a:ext cx="2510693" cy="549751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/>
          <p:nvPr/>
        </p:nvSpPr>
        <p:spPr>
          <a:xfrm rot="10800000">
            <a:off x="-995908" y="-399926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/>
          <p:nvPr/>
        </p:nvSpPr>
        <p:spPr>
          <a:xfrm flipH="1" rot="10800000">
            <a:off x="253096" y="4783255"/>
            <a:ext cx="758371" cy="758371"/>
          </a:xfrm>
          <a:custGeom>
            <a:rect b="b" l="l" r="r" t="t"/>
            <a:pathLst>
              <a:path extrusionOk="0" h="8037" w="8037">
                <a:moveTo>
                  <a:pt x="1" y="1"/>
                </a:moveTo>
                <a:lnTo>
                  <a:pt x="1" y="8037"/>
                </a:lnTo>
                <a:lnTo>
                  <a:pt x="8036" y="8037"/>
                </a:lnTo>
                <a:lnTo>
                  <a:pt x="80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">
  <p:cSld name="CUSTOM_3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909593" y="622350"/>
            <a:ext cx="3799500" cy="11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subTitle"/>
          </p:nvPr>
        </p:nvSpPr>
        <p:spPr>
          <a:xfrm>
            <a:off x="909550" y="1780050"/>
            <a:ext cx="36102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" name="Google Shape;111;p17"/>
          <p:cNvSpPr/>
          <p:nvPr>
            <p:ph idx="2" type="pic"/>
          </p:nvPr>
        </p:nvSpPr>
        <p:spPr>
          <a:xfrm>
            <a:off x="5190625" y="680850"/>
            <a:ext cx="3267600" cy="3776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12" name="Google Shape;112;p17"/>
          <p:cNvSpPr txBox="1"/>
          <p:nvPr/>
        </p:nvSpPr>
        <p:spPr>
          <a:xfrm>
            <a:off x="909600" y="3541625"/>
            <a:ext cx="36102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b="1" i="0" lang="en-GB" sz="1000" u="sng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GB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i="0" lang="en-GB" sz="1000" u="sng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GB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i="0" lang="en-GB" sz="1000" u="sng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GB" sz="1000" u="sng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i="0" sz="1000" u="sng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223309" y="-388233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5084381" y="-388237"/>
            <a:ext cx="690599" cy="69055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 flipH="1" rot="10800000">
            <a:off x="-1316557" y="4818135"/>
            <a:ext cx="2510693" cy="549751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/>
          <p:nvPr/>
        </p:nvSpPr>
        <p:spPr>
          <a:xfrm rot="-5400000">
            <a:off x="-1642191" y="2214942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8877349" y="189939"/>
            <a:ext cx="490920" cy="490920"/>
          </a:xfrm>
          <a:custGeom>
            <a:rect b="b" l="l" r="r" t="t"/>
            <a:pathLst>
              <a:path extrusionOk="0" h="8037" w="8037">
                <a:moveTo>
                  <a:pt x="1" y="1"/>
                </a:moveTo>
                <a:lnTo>
                  <a:pt x="1" y="8037"/>
                </a:lnTo>
                <a:lnTo>
                  <a:pt x="8036" y="8037"/>
                </a:lnTo>
                <a:lnTo>
                  <a:pt x="80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4938325" y="4946466"/>
            <a:ext cx="3519911" cy="770733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5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>
            <a:off x="-360729" y="715383"/>
            <a:ext cx="758371" cy="758371"/>
          </a:xfrm>
          <a:custGeom>
            <a:rect b="b" l="l" r="r" t="t"/>
            <a:pathLst>
              <a:path extrusionOk="0" h="8037" w="8037">
                <a:moveTo>
                  <a:pt x="1" y="1"/>
                </a:moveTo>
                <a:lnTo>
                  <a:pt x="1" y="8037"/>
                </a:lnTo>
                <a:lnTo>
                  <a:pt x="8036" y="8037"/>
                </a:lnTo>
                <a:lnTo>
                  <a:pt x="80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462600" y="-205684"/>
            <a:ext cx="3519911" cy="770733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2474659" y="-442358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/>
          <p:nvPr/>
        </p:nvSpPr>
        <p:spPr>
          <a:xfrm flipH="1" rot="10800000">
            <a:off x="7140431" y="4766380"/>
            <a:ext cx="690599" cy="690554"/>
          </a:xfrm>
          <a:custGeom>
            <a:rect b="b" l="l" r="r" t="t"/>
            <a:pathLst>
              <a:path extrusionOk="0" h="8036" w="8037">
                <a:moveTo>
                  <a:pt x="0" y="0"/>
                </a:moveTo>
                <a:lnTo>
                  <a:pt x="0" y="8036"/>
                </a:lnTo>
                <a:lnTo>
                  <a:pt x="8036" y="8036"/>
                </a:lnTo>
                <a:lnTo>
                  <a:pt x="803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2"/>
          <p:cNvSpPr/>
          <p:nvPr/>
        </p:nvSpPr>
        <p:spPr>
          <a:xfrm flipH="1" rot="10800000">
            <a:off x="408500" y="4579423"/>
            <a:ext cx="3519911" cy="770733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2"/>
          <p:cNvSpPr/>
          <p:nvPr/>
        </p:nvSpPr>
        <p:spPr>
          <a:xfrm flipH="1" rot="10800000">
            <a:off x="2420559" y="4896275"/>
            <a:ext cx="3071154" cy="690554"/>
          </a:xfrm>
          <a:custGeom>
            <a:rect b="b" l="l" r="r" t="t"/>
            <a:pathLst>
              <a:path extrusionOk="0" h="8478" w="37706">
                <a:moveTo>
                  <a:pt x="33467" y="266"/>
                </a:moveTo>
                <a:cubicBezTo>
                  <a:pt x="35653" y="266"/>
                  <a:pt x="37441" y="2054"/>
                  <a:pt x="37441" y="4239"/>
                </a:cubicBezTo>
                <a:cubicBezTo>
                  <a:pt x="37441" y="6425"/>
                  <a:pt x="35653" y="8191"/>
                  <a:pt x="33467" y="8191"/>
                </a:cubicBezTo>
                <a:lnTo>
                  <a:pt x="4239" y="8191"/>
                </a:lnTo>
                <a:cubicBezTo>
                  <a:pt x="2053" y="8191"/>
                  <a:pt x="265" y="6425"/>
                  <a:pt x="265" y="4239"/>
                </a:cubicBezTo>
                <a:cubicBezTo>
                  <a:pt x="265" y="2054"/>
                  <a:pt x="2053" y="266"/>
                  <a:pt x="4239" y="266"/>
                </a:cubicBezTo>
                <a:close/>
                <a:moveTo>
                  <a:pt x="4239" y="1"/>
                </a:moveTo>
                <a:cubicBezTo>
                  <a:pt x="1899" y="1"/>
                  <a:pt x="0" y="1899"/>
                  <a:pt x="0" y="4239"/>
                </a:cubicBezTo>
                <a:cubicBezTo>
                  <a:pt x="0" y="6579"/>
                  <a:pt x="1899" y="8478"/>
                  <a:pt x="4239" y="8478"/>
                </a:cubicBezTo>
                <a:lnTo>
                  <a:pt x="33467" y="8478"/>
                </a:lnTo>
                <a:cubicBezTo>
                  <a:pt x="35807" y="8478"/>
                  <a:pt x="37706" y="6579"/>
                  <a:pt x="37706" y="4239"/>
                </a:cubicBezTo>
                <a:cubicBezTo>
                  <a:pt x="37706" y="1899"/>
                  <a:pt x="35807" y="1"/>
                  <a:pt x="334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2"/>
          <p:cNvSpPr/>
          <p:nvPr/>
        </p:nvSpPr>
        <p:spPr>
          <a:xfrm flipH="1" rot="-5400000">
            <a:off x="7812583" y="4369823"/>
            <a:ext cx="2615518" cy="572704"/>
          </a:xfrm>
          <a:custGeom>
            <a:rect b="b" l="l" r="r" t="t"/>
            <a:pathLst>
              <a:path extrusionOk="0" h="12805" w="58480">
                <a:moveTo>
                  <a:pt x="6402" y="1"/>
                </a:moveTo>
                <a:cubicBezTo>
                  <a:pt x="2870" y="1"/>
                  <a:pt x="0" y="2871"/>
                  <a:pt x="0" y="6403"/>
                </a:cubicBezTo>
                <a:cubicBezTo>
                  <a:pt x="0" y="9957"/>
                  <a:pt x="2870" y="12805"/>
                  <a:pt x="6402" y="12805"/>
                </a:cubicBezTo>
                <a:lnTo>
                  <a:pt x="52077" y="12805"/>
                </a:lnTo>
                <a:cubicBezTo>
                  <a:pt x="55609" y="12805"/>
                  <a:pt x="58479" y="9957"/>
                  <a:pt x="58479" y="6403"/>
                </a:cubicBezTo>
                <a:cubicBezTo>
                  <a:pt x="58479" y="2871"/>
                  <a:pt x="55609" y="1"/>
                  <a:pt x="5207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b="1" i="0" sz="30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b="1" i="0" sz="30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b="1" i="0" sz="30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b="1" i="0" sz="30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b="1" i="0" sz="30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b="1" i="0" sz="30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b="1" i="0" sz="30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b="1" i="0" sz="30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  <a:defRPr b="1" i="0" sz="30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"/>
          <p:cNvSpPr txBox="1"/>
          <p:nvPr>
            <p:ph type="ctrTitle"/>
          </p:nvPr>
        </p:nvSpPr>
        <p:spPr>
          <a:xfrm>
            <a:off x="565822" y="797008"/>
            <a:ext cx="6275700" cy="11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200"/>
              <a:t>Reliable Legal AI</a:t>
            </a:r>
            <a:endParaRPr i="1" sz="4200"/>
          </a:p>
        </p:txBody>
      </p:sp>
      <p:sp>
        <p:nvSpPr>
          <p:cNvPr id="140" name="Google Shape;140;p1"/>
          <p:cNvSpPr txBox="1"/>
          <p:nvPr/>
        </p:nvSpPr>
        <p:spPr>
          <a:xfrm>
            <a:off x="2204250" y="2079088"/>
            <a:ext cx="4132256" cy="11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odoni Moda"/>
              <a:buNone/>
            </a:pPr>
            <a:r>
              <a:rPr b="1" i="1" lang="en-GB" sz="23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rPr>
              <a:t>From one model to a verified agent council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>
            <p:ph idx="1" type="subTitle"/>
          </p:nvPr>
        </p:nvSpPr>
        <p:spPr>
          <a:xfrm>
            <a:off x="1583403" y="3389620"/>
            <a:ext cx="6683100" cy="1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GB"/>
              <a:t>Prepared by: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GB"/>
              <a:t>    Alex Ji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GB"/>
              <a:t>    Tafadzwa Nyemba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GB"/>
              <a:t>    Enock Katenda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GB"/>
              <a:t>    Leandro Ardiles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GB"/>
              <a:t>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GB"/>
              <a:t> 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"/>
          <p:cNvSpPr txBox="1"/>
          <p:nvPr>
            <p:ph idx="2" type="title"/>
          </p:nvPr>
        </p:nvSpPr>
        <p:spPr>
          <a:xfrm>
            <a:off x="1845900" y="1411309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147" name="Google Shape;147;p2"/>
          <p:cNvSpPr txBox="1"/>
          <p:nvPr>
            <p:ph idx="3" type="title"/>
          </p:nvPr>
        </p:nvSpPr>
        <p:spPr>
          <a:xfrm>
            <a:off x="1845900" y="2830230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04</a:t>
            </a:r>
            <a:endParaRPr/>
          </a:p>
        </p:txBody>
      </p:sp>
      <p:sp>
        <p:nvSpPr>
          <p:cNvPr id="148" name="Google Shape;148;p2"/>
          <p:cNvSpPr txBox="1"/>
          <p:nvPr>
            <p:ph idx="4" type="title"/>
          </p:nvPr>
        </p:nvSpPr>
        <p:spPr>
          <a:xfrm>
            <a:off x="4204650" y="1411309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149" name="Google Shape;149;p2"/>
          <p:cNvSpPr txBox="1"/>
          <p:nvPr>
            <p:ph idx="5" type="title"/>
          </p:nvPr>
        </p:nvSpPr>
        <p:spPr>
          <a:xfrm>
            <a:off x="4204650" y="2830230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05</a:t>
            </a:r>
            <a:endParaRPr/>
          </a:p>
        </p:txBody>
      </p:sp>
      <p:sp>
        <p:nvSpPr>
          <p:cNvPr id="150" name="Google Shape;150;p2"/>
          <p:cNvSpPr txBox="1"/>
          <p:nvPr>
            <p:ph type="title"/>
          </p:nvPr>
        </p:nvSpPr>
        <p:spPr>
          <a:xfrm>
            <a:off x="736938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Table of </a:t>
            </a:r>
            <a:r>
              <a:rPr i="1" lang="en-GB"/>
              <a:t>contents</a:t>
            </a:r>
            <a:endParaRPr i="1"/>
          </a:p>
        </p:txBody>
      </p:sp>
      <p:sp>
        <p:nvSpPr>
          <p:cNvPr id="151" name="Google Shape;151;p2"/>
          <p:cNvSpPr txBox="1"/>
          <p:nvPr>
            <p:ph idx="6" type="title"/>
          </p:nvPr>
        </p:nvSpPr>
        <p:spPr>
          <a:xfrm>
            <a:off x="6563400" y="1411309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152" name="Google Shape;152;p2"/>
          <p:cNvSpPr txBox="1"/>
          <p:nvPr>
            <p:ph idx="7" type="title"/>
          </p:nvPr>
        </p:nvSpPr>
        <p:spPr>
          <a:xfrm>
            <a:off x="6563400" y="2830230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06</a:t>
            </a:r>
            <a:endParaRPr/>
          </a:p>
        </p:txBody>
      </p:sp>
      <p:sp>
        <p:nvSpPr>
          <p:cNvPr id="153" name="Google Shape;153;p2"/>
          <p:cNvSpPr txBox="1"/>
          <p:nvPr>
            <p:ph idx="1" type="subTitle"/>
          </p:nvPr>
        </p:nvSpPr>
        <p:spPr>
          <a:xfrm>
            <a:off x="1050588" y="1937650"/>
            <a:ext cx="235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Direction</a:t>
            </a:r>
            <a:endParaRPr/>
          </a:p>
        </p:txBody>
      </p:sp>
      <p:sp>
        <p:nvSpPr>
          <p:cNvPr id="154" name="Google Shape;154;p2"/>
          <p:cNvSpPr txBox="1"/>
          <p:nvPr>
            <p:ph idx="8" type="subTitle"/>
          </p:nvPr>
        </p:nvSpPr>
        <p:spPr>
          <a:xfrm>
            <a:off x="3409338" y="1937650"/>
            <a:ext cx="235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Baseline</a:t>
            </a:r>
            <a:endParaRPr/>
          </a:p>
        </p:txBody>
      </p:sp>
      <p:sp>
        <p:nvSpPr>
          <p:cNvPr id="155" name="Google Shape;155;p2"/>
          <p:cNvSpPr txBox="1"/>
          <p:nvPr>
            <p:ph idx="9" type="subTitle"/>
          </p:nvPr>
        </p:nvSpPr>
        <p:spPr>
          <a:xfrm>
            <a:off x="5751150" y="1937650"/>
            <a:ext cx="235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Agentic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Architecture</a:t>
            </a:r>
            <a:endParaRPr/>
          </a:p>
        </p:txBody>
      </p:sp>
      <p:sp>
        <p:nvSpPr>
          <p:cNvPr id="156" name="Google Shape;156;p2"/>
          <p:cNvSpPr txBox="1"/>
          <p:nvPr>
            <p:ph idx="13" type="subTitle"/>
          </p:nvPr>
        </p:nvSpPr>
        <p:spPr>
          <a:xfrm>
            <a:off x="1033650" y="3356646"/>
            <a:ext cx="235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Model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Benchmark</a:t>
            </a:r>
            <a:endParaRPr/>
          </a:p>
        </p:txBody>
      </p:sp>
      <p:sp>
        <p:nvSpPr>
          <p:cNvPr id="157" name="Google Shape;157;p2"/>
          <p:cNvSpPr txBox="1"/>
          <p:nvPr>
            <p:ph idx="14" type="subTitle"/>
          </p:nvPr>
        </p:nvSpPr>
        <p:spPr>
          <a:xfrm>
            <a:off x="3392850" y="3356650"/>
            <a:ext cx="2358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Delivery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Plan</a:t>
            </a:r>
            <a:endParaRPr/>
          </a:p>
        </p:txBody>
      </p:sp>
      <p:sp>
        <p:nvSpPr>
          <p:cNvPr id="158" name="Google Shape;158;p2"/>
          <p:cNvSpPr txBox="1"/>
          <p:nvPr>
            <p:ph idx="15" type="subTitle"/>
          </p:nvPr>
        </p:nvSpPr>
        <p:spPr>
          <a:xfrm>
            <a:off x="5751150" y="3356646"/>
            <a:ext cx="235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Team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Split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731520" y="201168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GB" sz="2600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1. Direction</a:t>
            </a:r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914400" y="7863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300" u="none" cap="none" strike="noStrike">
                <a:solidFill>
                  <a:srgbClr val="5F636E"/>
                </a:solidFill>
                <a:latin typeface="Bodoni Moda"/>
                <a:ea typeface="Bodoni Moda"/>
                <a:cs typeface="Bodoni Moda"/>
                <a:sym typeface="Bodoni Moda"/>
              </a:rPr>
              <a:t>Keep the working analyzer, add an agentic verification layer, then test whether it helps.</a:t>
            </a:r>
            <a:endParaRPr/>
          </a:p>
        </p:txBody>
      </p:sp>
      <p:sp>
        <p:nvSpPr>
          <p:cNvPr id="165" name="Google Shape;165;p24"/>
          <p:cNvSpPr/>
          <p:nvPr/>
        </p:nvSpPr>
        <p:spPr>
          <a:xfrm>
            <a:off x="731520" y="1234440"/>
            <a:ext cx="2423160" cy="3017520"/>
          </a:xfrm>
          <a:prstGeom prst="roundRect">
            <a:avLst>
              <a:gd fmla="val 12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914400" y="1051560"/>
            <a:ext cx="384048" cy="384048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Bodoni Moda"/>
                <a:ea typeface="Bodoni Moda"/>
                <a:cs typeface="Bodoni Moda"/>
                <a:sym typeface="Bodoni Moda"/>
              </a:rPr>
              <a:t>01</a:t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914400" y="157276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What already works</a:t>
            </a:r>
            <a:endParaRPr/>
          </a:p>
        </p:txBody>
      </p:sp>
      <p:sp>
        <p:nvSpPr>
          <p:cNvPr id="168" name="Google Shape;168;p24"/>
          <p:cNvSpPr txBox="1"/>
          <p:nvPr/>
        </p:nvSpPr>
        <p:spPr>
          <a:xfrm>
            <a:off x="914400" y="1993392"/>
            <a:ext cx="205740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▪  </a:t>
            </a:r>
            <a:r>
              <a:rPr b="0" i="0" lang="en-GB" sz="11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Court opinions + scholar-defined questions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▪  </a:t>
            </a:r>
            <a:r>
              <a:rPr b="0" i="0" lang="en-GB" sz="11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Single LLM answer, reasoning, confidence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▪  </a:t>
            </a:r>
            <a:r>
              <a:rPr b="0" i="0" lang="en-GB" sz="11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Human validator + correction workflow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▪  </a:t>
            </a:r>
            <a:r>
              <a:rPr b="0" i="0" lang="en-GB" sz="11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Multi-round feedback infrastructure</a:t>
            </a:r>
            <a:endParaRPr/>
          </a:p>
        </p:txBody>
      </p:sp>
      <p:sp>
        <p:nvSpPr>
          <p:cNvPr id="169" name="Google Shape;169;p24"/>
          <p:cNvSpPr/>
          <p:nvPr/>
        </p:nvSpPr>
        <p:spPr>
          <a:xfrm>
            <a:off x="3360420" y="1234440"/>
            <a:ext cx="2423160" cy="3017520"/>
          </a:xfrm>
          <a:prstGeom prst="roundRect">
            <a:avLst>
              <a:gd fmla="val 12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3543300" y="1051560"/>
            <a:ext cx="384048" cy="384048"/>
          </a:xfrm>
          <a:prstGeom prst="rect">
            <a:avLst/>
          </a:prstGeom>
          <a:solidFill>
            <a:srgbClr val="242852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Bodoni Moda"/>
                <a:ea typeface="Bodoni Moda"/>
                <a:cs typeface="Bodoni Moda"/>
                <a:sym typeface="Bodoni Moda"/>
              </a:rPr>
              <a:t>02</a:t>
            </a:r>
            <a:endParaRPr/>
          </a:p>
        </p:txBody>
      </p:sp>
      <p:sp>
        <p:nvSpPr>
          <p:cNvPr id="171" name="Google Shape;171;p24"/>
          <p:cNvSpPr txBox="1"/>
          <p:nvPr/>
        </p:nvSpPr>
        <p:spPr>
          <a:xfrm>
            <a:off x="3543300" y="157276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Observed problem</a:t>
            </a: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3543300" y="1993392"/>
            <a:ext cx="205740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▪  </a:t>
            </a:r>
            <a:r>
              <a:rPr b="0" i="0" lang="en-GB" sz="11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A single model can be confidently wrong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▪  </a:t>
            </a:r>
            <a:r>
              <a:rPr b="0" i="0" lang="en-GB" sz="11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Capstone I exposed a hard failure mode in date reasoning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▪  </a:t>
            </a:r>
            <a:r>
              <a:rPr b="0" i="0" lang="en-GB" sz="11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Legal users need evidence and a clear signal for when to escalate to a human</a:t>
            </a:r>
            <a:endParaRPr/>
          </a:p>
        </p:txBody>
      </p:sp>
      <p:sp>
        <p:nvSpPr>
          <p:cNvPr id="173" name="Google Shape;173;p24"/>
          <p:cNvSpPr/>
          <p:nvPr/>
        </p:nvSpPr>
        <p:spPr>
          <a:xfrm>
            <a:off x="5989320" y="1234440"/>
            <a:ext cx="2423160" cy="3017520"/>
          </a:xfrm>
          <a:prstGeom prst="roundRect">
            <a:avLst>
              <a:gd fmla="val 12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6172200" y="1051560"/>
            <a:ext cx="384048" cy="38404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Bodoni Moda"/>
                <a:ea typeface="Bodoni Moda"/>
                <a:cs typeface="Bodoni Moda"/>
                <a:sym typeface="Bodoni Moda"/>
              </a:rPr>
              <a:t>03</a:t>
            </a:r>
            <a:endParaRPr/>
          </a:p>
        </p:txBody>
      </p:sp>
      <p:sp>
        <p:nvSpPr>
          <p:cNvPr id="175" name="Google Shape;175;p24"/>
          <p:cNvSpPr txBox="1"/>
          <p:nvPr/>
        </p:nvSpPr>
        <p:spPr>
          <a:xfrm>
            <a:off x="6172200" y="157276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Practical motivation</a:t>
            </a:r>
            <a:endParaRPr/>
          </a:p>
        </p:txBody>
      </p:sp>
      <p:sp>
        <p:nvSpPr>
          <p:cNvPr id="176" name="Google Shape;176;p24"/>
          <p:cNvSpPr txBox="1"/>
          <p:nvPr/>
        </p:nvSpPr>
        <p:spPr>
          <a:xfrm>
            <a:off x="6172200" y="1993392"/>
            <a:ext cx="205740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Legal professionals already use AI for review, summarization and drafting. The trust problem remains: knowing when an answer is safe to rely on, and when a human must review it.</a:t>
            </a:r>
            <a:endParaRPr/>
          </a:p>
        </p:txBody>
      </p:sp>
      <p:sp>
        <p:nvSpPr>
          <p:cNvPr id="177" name="Google Shape;177;p24"/>
          <p:cNvSpPr txBox="1"/>
          <p:nvPr/>
        </p:nvSpPr>
        <p:spPr>
          <a:xfrm>
            <a:off x="731520" y="4389120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50" u="none" cap="none" strike="noStrike">
                <a:solidFill>
                  <a:srgbClr val="5F636E"/>
                </a:solidFill>
                <a:latin typeface="DM Sans"/>
                <a:ea typeface="DM Sans"/>
                <a:cs typeface="DM Sans"/>
                <a:sym typeface="DM Sans"/>
              </a:rPr>
              <a:t>Basis: current Court Opinions Analyzer, Capstone I findings, and team stakeholder discussion.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/>
        </p:nvSpPr>
        <p:spPr>
          <a:xfrm>
            <a:off x="731520" y="201168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1. Research Question</a:t>
            </a:r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1097280" y="960120"/>
            <a:ext cx="6949440" cy="1600200"/>
          </a:xfrm>
          <a:prstGeom prst="roundRect">
            <a:avLst>
              <a:gd fmla="val 8000" name="adj"/>
            </a:avLst>
          </a:prstGeom>
          <a:solidFill>
            <a:srgbClr val="ACCBF9"/>
          </a:solidFill>
          <a:ln>
            <a:noFill/>
          </a:ln>
        </p:spPr>
        <p:txBody>
          <a:bodyPr anchorCtr="0" anchor="ctr" bIns="36575" lIns="320025" spcFirstLastPara="1" rIns="32002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700" u="none" cap="none" strike="noStrike">
                <a:solidFill>
                  <a:srgbClr val="242852"/>
                </a:solidFill>
                <a:latin typeface="Bodoni Moda"/>
                <a:ea typeface="Bodoni Moda"/>
                <a:cs typeface="Bodoni Moda"/>
                <a:sym typeface="Bodoni Moda"/>
              </a:rPr>
              <a:t>Can independent agent disagreement and evidence verification detect bad legal answers better than self-reported confidence, while improving accuracy at acceptable cost?</a:t>
            </a:r>
            <a:endParaRPr/>
          </a:p>
        </p:txBody>
      </p:sp>
      <p:sp>
        <p:nvSpPr>
          <p:cNvPr id="184" name="Google Shape;184;p25"/>
          <p:cNvSpPr txBox="1"/>
          <p:nvPr/>
        </p:nvSpPr>
        <p:spPr>
          <a:xfrm>
            <a:off x="1097280" y="2816352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Guiding principles</a:t>
            </a:r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1097280" y="3200400"/>
            <a:ext cx="1627632" cy="658368"/>
          </a:xfrm>
          <a:prstGeom prst="roundRect">
            <a:avLst>
              <a:gd fmla="val 50000" name="adj"/>
            </a:avLst>
          </a:prstGeom>
          <a:solidFill>
            <a:srgbClr val="242852"/>
          </a:solidFill>
          <a:ln>
            <a:noFill/>
          </a:ln>
        </p:spPr>
        <p:txBody>
          <a:bodyPr anchorCtr="0" anchor="ctr" bIns="36575" lIns="109725" spcFirstLastPara="1" rIns="10972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Keep the existing baseline</a:t>
            </a:r>
            <a:endParaRPr/>
          </a:p>
        </p:txBody>
      </p:sp>
      <p:sp>
        <p:nvSpPr>
          <p:cNvPr id="186" name="Google Shape;186;p25"/>
          <p:cNvSpPr/>
          <p:nvPr/>
        </p:nvSpPr>
        <p:spPr>
          <a:xfrm>
            <a:off x="2871216" y="3200400"/>
            <a:ext cx="1627632" cy="658368"/>
          </a:xfrm>
          <a:prstGeom prst="roundRect">
            <a:avLst>
              <a:gd fmla="val 50000" name="adj"/>
            </a:avLst>
          </a:prstGeom>
          <a:solidFill>
            <a:srgbClr val="4A66AC"/>
          </a:solidFill>
          <a:ln>
            <a:noFill/>
          </a:ln>
        </p:spPr>
        <p:txBody>
          <a:bodyPr anchorCtr="0" anchor="ctr" bIns="36575" lIns="109725" spcFirstLastPara="1" rIns="10972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agents incrementally</a:t>
            </a:r>
            <a:endParaRPr/>
          </a:p>
        </p:txBody>
      </p:sp>
      <p:sp>
        <p:nvSpPr>
          <p:cNvPr id="187" name="Google Shape;187;p25"/>
          <p:cNvSpPr/>
          <p:nvPr/>
        </p:nvSpPr>
        <p:spPr>
          <a:xfrm>
            <a:off x="4645152" y="3200400"/>
            <a:ext cx="1627632" cy="658368"/>
          </a:xfrm>
          <a:prstGeom prst="roundRect">
            <a:avLst>
              <a:gd fmla="val 50000" name="adj"/>
            </a:avLst>
          </a:prstGeom>
          <a:solidFill>
            <a:srgbClr val="629DD1"/>
          </a:solidFill>
          <a:ln>
            <a:noFill/>
          </a:ln>
        </p:spPr>
        <p:txBody>
          <a:bodyPr anchorCtr="0" anchor="ctr" bIns="36575" lIns="109725" spcFirstLastPara="1" rIns="10972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Measure, do not assume</a:t>
            </a:r>
            <a:endParaRPr/>
          </a:p>
        </p:txBody>
      </p:sp>
      <p:sp>
        <p:nvSpPr>
          <p:cNvPr id="188" name="Google Shape;188;p25"/>
          <p:cNvSpPr/>
          <p:nvPr/>
        </p:nvSpPr>
        <p:spPr>
          <a:xfrm>
            <a:off x="6419088" y="3200400"/>
            <a:ext cx="1627632" cy="658368"/>
          </a:xfrm>
          <a:prstGeom prst="roundRect">
            <a:avLst>
              <a:gd fmla="val 50000" name="adj"/>
            </a:avLst>
          </a:prstGeom>
          <a:solidFill>
            <a:srgbClr val="ACCBF9"/>
          </a:solidFill>
          <a:ln>
            <a:noFill/>
          </a:ln>
        </p:spPr>
        <p:txBody>
          <a:bodyPr anchorCtr="0" anchor="ctr" bIns="36575" lIns="109725" spcFirstLastPara="1" rIns="10972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Human stays final authority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731520" y="201168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GB" sz="2600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2. Start in the Backend</a:t>
            </a:r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914400" y="7863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300" u="none" cap="none" strike="noStrike">
                <a:solidFill>
                  <a:srgbClr val="5F636E"/>
                </a:solidFill>
                <a:latin typeface="Bodoni Moda"/>
                <a:ea typeface="Bodoni Moda"/>
                <a:cs typeface="Bodoni Moda"/>
                <a:sym typeface="Bodoni Moda"/>
              </a:rPr>
              <a:t>The current repository already contains the workflow we need: preserve it as the experimental baseline.</a:t>
            </a:r>
            <a:endParaRPr/>
          </a:p>
        </p:txBody>
      </p:sp>
      <p:sp>
        <p:nvSpPr>
          <p:cNvPr id="195" name="Google Shape;195;p26"/>
          <p:cNvSpPr/>
          <p:nvPr/>
        </p:nvSpPr>
        <p:spPr>
          <a:xfrm>
            <a:off x="708660" y="1216152"/>
            <a:ext cx="1325880" cy="658368"/>
          </a:xfrm>
          <a:prstGeom prst="rect">
            <a:avLst/>
          </a:prstGeom>
          <a:solidFill>
            <a:srgbClr val="ACCBF9"/>
          </a:solidFill>
          <a:ln>
            <a:noFill/>
          </a:ln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Project / Module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research question + case sample</a:t>
            </a:r>
            <a:endParaRPr/>
          </a:p>
        </p:txBody>
      </p:sp>
      <p:sp>
        <p:nvSpPr>
          <p:cNvPr id="196" name="Google Shape;196;p26"/>
          <p:cNvSpPr txBox="1"/>
          <p:nvPr/>
        </p:nvSpPr>
        <p:spPr>
          <a:xfrm>
            <a:off x="708660" y="192024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00" u="none" cap="none" strike="noStrike">
                <a:solidFill>
                  <a:srgbClr val="5F636E"/>
                </a:solidFill>
                <a:latin typeface="DM Sans"/>
                <a:ea typeface="DM Sans"/>
                <a:cs typeface="DM Sans"/>
                <a:sym typeface="DM Sans"/>
              </a:rPr>
              <a:t>Setup</a:t>
            </a:r>
            <a:endParaRPr/>
          </a:p>
        </p:txBody>
      </p:sp>
      <p:cxnSp>
        <p:nvCxnSpPr>
          <p:cNvPr id="197" name="Google Shape;197;p26"/>
          <p:cNvCxnSpPr/>
          <p:nvPr/>
        </p:nvCxnSpPr>
        <p:spPr>
          <a:xfrm>
            <a:off x="2071116" y="1545336"/>
            <a:ext cx="201168" cy="0"/>
          </a:xfrm>
          <a:prstGeom prst="straightConnector1">
            <a:avLst/>
          </a:prstGeom>
          <a:noFill/>
          <a:ln cap="flat" cmpd="sng" w="25400">
            <a:solidFill>
              <a:srgbClr val="5F63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8" name="Google Shape;198;p26"/>
          <p:cNvSpPr/>
          <p:nvPr/>
        </p:nvSpPr>
        <p:spPr>
          <a:xfrm>
            <a:off x="2308860" y="1216152"/>
            <a:ext cx="1325880" cy="65836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launch_module()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routers/modules.py</a:t>
            </a:r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2308860" y="192024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00" u="none" cap="none" strike="noStrike">
                <a:solidFill>
                  <a:srgbClr val="5F636E"/>
                </a:solidFill>
                <a:latin typeface="DM Sans"/>
                <a:ea typeface="DM Sans"/>
                <a:cs typeface="DM Sans"/>
                <a:sym typeface="DM Sans"/>
              </a:rPr>
              <a:t>Launch</a:t>
            </a:r>
            <a:endParaRPr/>
          </a:p>
        </p:txBody>
      </p:sp>
      <p:cxnSp>
        <p:nvCxnSpPr>
          <p:cNvPr id="200" name="Google Shape;200;p26"/>
          <p:cNvCxnSpPr/>
          <p:nvPr/>
        </p:nvCxnSpPr>
        <p:spPr>
          <a:xfrm>
            <a:off x="3671316" y="1545336"/>
            <a:ext cx="201168" cy="0"/>
          </a:xfrm>
          <a:prstGeom prst="straightConnector1">
            <a:avLst/>
          </a:prstGeom>
          <a:noFill/>
          <a:ln cap="flat" cmpd="sng" w="25400">
            <a:solidFill>
              <a:srgbClr val="5F63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1" name="Google Shape;201;p26"/>
          <p:cNvSpPr/>
          <p:nvPr/>
        </p:nvSpPr>
        <p:spPr>
          <a:xfrm>
            <a:off x="3909060" y="1216152"/>
            <a:ext cx="1325880" cy="658368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Single LLM call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_run_groq_ai_analysis()</a:t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3909060" y="192024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00" u="none" cap="none" strike="noStrike">
                <a:solidFill>
                  <a:srgbClr val="5F636E"/>
                </a:solidFill>
                <a:latin typeface="DM Sans"/>
                <a:ea typeface="DM Sans"/>
                <a:cs typeface="DM Sans"/>
                <a:sym typeface="DM Sans"/>
              </a:rPr>
              <a:t>Analysis</a:t>
            </a:r>
            <a:endParaRPr/>
          </a:p>
        </p:txBody>
      </p:sp>
      <p:cxnSp>
        <p:nvCxnSpPr>
          <p:cNvPr id="203" name="Google Shape;203;p26"/>
          <p:cNvCxnSpPr/>
          <p:nvPr/>
        </p:nvCxnSpPr>
        <p:spPr>
          <a:xfrm>
            <a:off x="5271516" y="1545336"/>
            <a:ext cx="201168" cy="0"/>
          </a:xfrm>
          <a:prstGeom prst="straightConnector1">
            <a:avLst/>
          </a:prstGeom>
          <a:noFill/>
          <a:ln cap="flat" cmpd="sng" w="25400">
            <a:solidFill>
              <a:srgbClr val="5F63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4" name="Google Shape;204;p26"/>
          <p:cNvSpPr/>
          <p:nvPr/>
        </p:nvSpPr>
        <p:spPr>
          <a:xfrm>
            <a:off x="5509260" y="1216152"/>
            <a:ext cx="1325880" cy="658368"/>
          </a:xfrm>
          <a:prstGeom prst="rect">
            <a:avLst/>
          </a:prstGeom>
          <a:solidFill>
            <a:srgbClr val="242852"/>
          </a:solidFill>
          <a:ln>
            <a:noFill/>
          </a:ln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AIAnalysis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answer + reasoning + confidence</a:t>
            </a:r>
            <a:endParaRPr/>
          </a:p>
        </p:txBody>
      </p:sp>
      <p:sp>
        <p:nvSpPr>
          <p:cNvPr id="205" name="Google Shape;205;p26"/>
          <p:cNvSpPr txBox="1"/>
          <p:nvPr/>
        </p:nvSpPr>
        <p:spPr>
          <a:xfrm>
            <a:off x="5509260" y="192024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00" u="none" cap="none" strike="noStrike">
                <a:solidFill>
                  <a:srgbClr val="5F636E"/>
                </a:solidFill>
                <a:latin typeface="DM Sans"/>
                <a:ea typeface="DM Sans"/>
                <a:cs typeface="DM Sans"/>
                <a:sym typeface="DM Sans"/>
              </a:rPr>
              <a:t>Storage</a:t>
            </a:r>
            <a:endParaRPr/>
          </a:p>
        </p:txBody>
      </p:sp>
      <p:cxnSp>
        <p:nvCxnSpPr>
          <p:cNvPr id="206" name="Google Shape;206;p26"/>
          <p:cNvCxnSpPr/>
          <p:nvPr/>
        </p:nvCxnSpPr>
        <p:spPr>
          <a:xfrm>
            <a:off x="6871716" y="1545336"/>
            <a:ext cx="201168" cy="0"/>
          </a:xfrm>
          <a:prstGeom prst="straightConnector1">
            <a:avLst/>
          </a:prstGeom>
          <a:noFill/>
          <a:ln cap="flat" cmpd="sng" w="25400">
            <a:solidFill>
              <a:srgbClr val="5F63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7" name="Google Shape;207;p26"/>
          <p:cNvSpPr/>
          <p:nvPr/>
        </p:nvSpPr>
        <p:spPr>
          <a:xfrm>
            <a:off x="7109460" y="1216152"/>
            <a:ext cx="1325880" cy="658368"/>
          </a:xfrm>
          <a:prstGeom prst="rect">
            <a:avLst/>
          </a:prstGeom>
          <a:solidFill>
            <a:srgbClr val="242852"/>
          </a:solidFill>
          <a:ln>
            <a:noFill/>
          </a:ln>
        </p:spPr>
        <p:txBody>
          <a:bodyPr anchorCtr="0" anchor="ctr" bIns="36575" lIns="45700" spcFirstLastPara="1" rIns="4570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Human Validator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correction + feedback</a:t>
            </a:r>
            <a:endParaRPr/>
          </a:p>
        </p:txBody>
      </p:sp>
      <p:sp>
        <p:nvSpPr>
          <p:cNvPr id="208" name="Google Shape;208;p26"/>
          <p:cNvSpPr txBox="1"/>
          <p:nvPr/>
        </p:nvSpPr>
        <p:spPr>
          <a:xfrm>
            <a:off x="7109460" y="192024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00" u="none" cap="none" strike="noStrike">
                <a:solidFill>
                  <a:srgbClr val="5F636E"/>
                </a:solidFill>
                <a:latin typeface="DM Sans"/>
                <a:ea typeface="DM Sans"/>
                <a:cs typeface="DM Sans"/>
                <a:sym typeface="DM Sans"/>
              </a:rPr>
              <a:t>Review</a:t>
            </a:r>
            <a:endParaRPr/>
          </a:p>
        </p:txBody>
      </p:sp>
      <p:sp>
        <p:nvSpPr>
          <p:cNvPr id="209" name="Google Shape;209;p26"/>
          <p:cNvSpPr/>
          <p:nvPr/>
        </p:nvSpPr>
        <p:spPr>
          <a:xfrm>
            <a:off x="3909061" y="1216152"/>
            <a:ext cx="1325880" cy="658368"/>
          </a:xfrm>
          <a:prstGeom prst="rect">
            <a:avLst/>
          </a:prstGeom>
          <a:noFill/>
          <a:ln cap="flat" cmpd="sng" w="19050">
            <a:solidFill>
              <a:srgbClr val="C0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3543300" y="2103120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C01F1F"/>
                </a:solidFill>
                <a:latin typeface="DM Sans"/>
                <a:ea typeface="DM Sans"/>
                <a:cs typeface="DM Sans"/>
                <a:sym typeface="DM Sans"/>
              </a:rPr>
              <a:t>agentic layer replaces this call</a:t>
            </a:r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731520" y="2395728"/>
            <a:ext cx="2423160" cy="1783080"/>
          </a:xfrm>
          <a:prstGeom prst="roundRect">
            <a:avLst>
              <a:gd fmla="val 12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896112" y="2487168"/>
            <a:ext cx="2093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First engineering task</a:t>
            </a:r>
            <a:endParaRPr/>
          </a:p>
        </p:txBody>
      </p:sp>
      <p:sp>
        <p:nvSpPr>
          <p:cNvPr id="213" name="Google Shape;213;p26"/>
          <p:cNvSpPr txBox="1"/>
          <p:nvPr/>
        </p:nvSpPr>
        <p:spPr>
          <a:xfrm>
            <a:off x="896112" y="2816352"/>
            <a:ext cx="209397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1  </a:t>
            </a: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Clone and run the current app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2  </a:t>
            </a: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Use Dummy AI if API setup blocks progress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3  </a:t>
            </a: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Trace project, launch, analysis, validation, feedback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4  </a:t>
            </a: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Freeze this behavior as the baseline</a:t>
            </a:r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3360420" y="2395728"/>
            <a:ext cx="2423160" cy="1783080"/>
          </a:xfrm>
          <a:prstGeom prst="roundRect">
            <a:avLst>
              <a:gd fmla="val 12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3525012" y="2487168"/>
            <a:ext cx="2093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Where the agents plug in</a:t>
            </a:r>
            <a:endParaRPr/>
          </a:p>
        </p:txBody>
      </p:sp>
      <p:sp>
        <p:nvSpPr>
          <p:cNvPr id="216" name="Google Shape;216;p26"/>
          <p:cNvSpPr txBox="1"/>
          <p:nvPr/>
        </p:nvSpPr>
        <p:spPr>
          <a:xfrm>
            <a:off x="3525012" y="2816352"/>
            <a:ext cx="209397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Do not rewrite the frontend first. Replace the single analysis call with an agentic pipeline behind the same module launch flow.</a:t>
            </a:r>
            <a:endParaRPr/>
          </a:p>
        </p:txBody>
      </p:sp>
      <p:sp>
        <p:nvSpPr>
          <p:cNvPr id="217" name="Google Shape;217;p26"/>
          <p:cNvSpPr/>
          <p:nvPr/>
        </p:nvSpPr>
        <p:spPr>
          <a:xfrm>
            <a:off x="5989320" y="2395728"/>
            <a:ext cx="2423160" cy="1783080"/>
          </a:xfrm>
          <a:prstGeom prst="roundRect">
            <a:avLst>
              <a:gd fmla="val 12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6153912" y="2487168"/>
            <a:ext cx="2093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Reference implementation</a:t>
            </a:r>
            <a:endParaRPr/>
          </a:p>
        </p:txBody>
      </p:sp>
      <p:sp>
        <p:nvSpPr>
          <p:cNvPr id="219" name="Google Shape;219;p26"/>
          <p:cNvSpPr txBox="1"/>
          <p:nvPr/>
        </p:nvSpPr>
        <p:spPr>
          <a:xfrm>
            <a:off x="6153912" y="2816352"/>
            <a:ext cx="209397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Shadow contributes design patterns: role separation, disagreement preservation, verification gates and human review. We reuse the patterns, not its banking logic.</a:t>
            </a:r>
            <a:endParaRPr/>
          </a:p>
        </p:txBody>
      </p:sp>
      <p:sp>
        <p:nvSpPr>
          <p:cNvPr id="220" name="Google Shape;220;p26"/>
          <p:cNvSpPr txBox="1"/>
          <p:nvPr/>
        </p:nvSpPr>
        <p:spPr>
          <a:xfrm>
            <a:off x="731520" y="427939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Repo  </a:t>
            </a:r>
            <a:r>
              <a:rPr b="0" i="0" lang="en-GB" sz="8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github.com/leanardiles/us-court-decisions-analyzer</a:t>
            </a:r>
            <a:r>
              <a:rPr b="1" i="0" lang="en-GB" sz="8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      Shadow reference  </a:t>
            </a:r>
            <a:r>
              <a:rPr b="0" i="0" lang="en-GB" sz="8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github.com/alex-jb/shadow-mentor</a:t>
            </a:r>
            <a:endParaRPr/>
          </a:p>
        </p:txBody>
      </p:sp>
      <p:sp>
        <p:nvSpPr>
          <p:cNvPr id="221" name="Google Shape;221;p26"/>
          <p:cNvSpPr txBox="1"/>
          <p:nvPr/>
        </p:nvSpPr>
        <p:spPr>
          <a:xfrm>
            <a:off x="731520" y="4507992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50" u="none" cap="none" strike="noStrike">
                <a:solidFill>
                  <a:srgbClr val="5F636E"/>
                </a:solidFill>
                <a:latin typeface="DM Sans"/>
                <a:ea typeface="DM Sans"/>
                <a:cs typeface="DM Sans"/>
                <a:sym typeface="DM Sans"/>
              </a:rPr>
              <a:t>Code review note: the backend already supports a Dummy AI fallback and stores model, token and cost fields.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731520" y="201168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GB" sz="2600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3. Pilot Agentic Architecture</a:t>
            </a:r>
            <a:endParaRPr/>
          </a:p>
        </p:txBody>
      </p:sp>
      <p:sp>
        <p:nvSpPr>
          <p:cNvPr id="227" name="Google Shape;227;p27"/>
          <p:cNvSpPr txBox="1"/>
          <p:nvPr/>
        </p:nvSpPr>
        <p:spPr>
          <a:xfrm>
            <a:off x="914400" y="7863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300" u="none" cap="none" strike="noStrike">
                <a:solidFill>
                  <a:srgbClr val="5F636E"/>
                </a:solidFill>
                <a:latin typeface="Bodoni Moda"/>
                <a:ea typeface="Bodoni Moda"/>
                <a:cs typeface="Bodoni Moda"/>
                <a:sym typeface="Bodoni Moda"/>
              </a:rPr>
              <a:t>Two independent readers, one adjudicator, then the existing human validation workflow.</a:t>
            </a:r>
            <a:endParaRPr/>
          </a:p>
        </p:txBody>
      </p:sp>
      <p:sp>
        <p:nvSpPr>
          <p:cNvPr id="228" name="Google Shape;228;p27"/>
          <p:cNvSpPr/>
          <p:nvPr/>
        </p:nvSpPr>
        <p:spPr>
          <a:xfrm>
            <a:off x="731520" y="2011680"/>
            <a:ext cx="1143000" cy="7772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2428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54850" spcFirstLastPara="1" rIns="548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242852"/>
                </a:solidFill>
                <a:latin typeface="Bodoni Moda"/>
                <a:ea typeface="Bodoni Moda"/>
                <a:cs typeface="Bodoni Moda"/>
                <a:sym typeface="Bodoni Moda"/>
              </a:rPr>
              <a:t>Court Opinion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same case + same question</a:t>
            </a:r>
            <a:endParaRPr/>
          </a:p>
        </p:txBody>
      </p:sp>
      <p:sp>
        <p:nvSpPr>
          <p:cNvPr id="229" name="Google Shape;229;p27"/>
          <p:cNvSpPr/>
          <p:nvPr/>
        </p:nvSpPr>
        <p:spPr>
          <a:xfrm>
            <a:off x="2194560" y="1234440"/>
            <a:ext cx="1417320" cy="822960"/>
          </a:xfrm>
          <a:prstGeom prst="roundRect">
            <a:avLst>
              <a:gd fmla="val 10000" name="adj"/>
            </a:avLst>
          </a:prstGeom>
          <a:solidFill>
            <a:srgbClr val="ACCBF9"/>
          </a:solidFill>
          <a:ln>
            <a:noFill/>
          </a:ln>
        </p:spPr>
        <p:txBody>
          <a:bodyPr anchorCtr="0" anchor="ctr" bIns="36575" lIns="54850" spcFirstLastPara="1" rIns="548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242852"/>
                </a:solidFill>
                <a:latin typeface="Bodoni Moda"/>
                <a:ea typeface="Bodoni Moda"/>
                <a:cs typeface="Bodoni Moda"/>
                <a:sym typeface="Bodoni Moda"/>
              </a:rPr>
              <a:t>Reader Agent 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answer + cited evidence + reasoning + confidence</a:t>
            </a:r>
            <a:endParaRPr/>
          </a:p>
        </p:txBody>
      </p:sp>
      <p:sp>
        <p:nvSpPr>
          <p:cNvPr id="230" name="Google Shape;230;p27"/>
          <p:cNvSpPr/>
          <p:nvPr/>
        </p:nvSpPr>
        <p:spPr>
          <a:xfrm>
            <a:off x="2194560" y="2743200"/>
            <a:ext cx="1417320" cy="822960"/>
          </a:xfrm>
          <a:prstGeom prst="roundRect">
            <a:avLst>
              <a:gd fmla="val 10000" name="adj"/>
            </a:avLst>
          </a:prstGeom>
          <a:solidFill>
            <a:srgbClr val="ACCBF9"/>
          </a:solidFill>
          <a:ln>
            <a:noFill/>
          </a:ln>
        </p:spPr>
        <p:txBody>
          <a:bodyPr anchorCtr="0" anchor="ctr" bIns="36575" lIns="54850" spcFirstLastPara="1" rIns="548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242852"/>
                </a:solidFill>
                <a:latin typeface="Bodoni Moda"/>
                <a:ea typeface="Bodoni Moda"/>
                <a:cs typeface="Bodoni Moda"/>
                <a:sym typeface="Bodoni Moda"/>
              </a:rPr>
              <a:t>Reader Agent 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independent run on the same evidence</a:t>
            </a:r>
            <a:endParaRPr/>
          </a:p>
        </p:txBody>
      </p:sp>
      <p:sp>
        <p:nvSpPr>
          <p:cNvPr id="231" name="Google Shape;231;p27"/>
          <p:cNvSpPr/>
          <p:nvPr/>
        </p:nvSpPr>
        <p:spPr>
          <a:xfrm>
            <a:off x="3931920" y="1874519"/>
            <a:ext cx="1554480" cy="1051560"/>
          </a:xfrm>
          <a:prstGeom prst="roundRect">
            <a:avLst>
              <a:gd fmla="val 10000" name="adj"/>
            </a:avLst>
          </a:prstGeom>
          <a:solidFill>
            <a:srgbClr val="4A66AC"/>
          </a:solidFill>
          <a:ln>
            <a:noFill/>
          </a:ln>
        </p:spPr>
        <p:txBody>
          <a:bodyPr anchorCtr="0" anchor="ctr" bIns="36575" lIns="54850" spcFirstLastPara="1" rIns="548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FFFFFF"/>
                </a:solidFill>
                <a:latin typeface="Bodoni Moda"/>
                <a:ea typeface="Bodoni Moda"/>
                <a:cs typeface="Bodoni Moda"/>
                <a:sym typeface="Bodoni Moda"/>
              </a:rPr>
              <a:t>Adjudicator / Verifier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compares answers + cited spans; preserves disagreement; no majority vote</a:t>
            </a:r>
            <a:endParaRPr/>
          </a:p>
        </p:txBody>
      </p:sp>
      <p:sp>
        <p:nvSpPr>
          <p:cNvPr id="232" name="Google Shape;232;p27"/>
          <p:cNvSpPr/>
          <p:nvPr/>
        </p:nvSpPr>
        <p:spPr>
          <a:xfrm>
            <a:off x="5806440" y="1234440"/>
            <a:ext cx="1097280" cy="658368"/>
          </a:xfrm>
          <a:prstGeom prst="roundRect">
            <a:avLst>
              <a:gd fmla="val 10000" name="adj"/>
            </a:avLst>
          </a:prstGeom>
          <a:solidFill>
            <a:srgbClr val="629DD1"/>
          </a:solidFill>
          <a:ln>
            <a:noFill/>
          </a:ln>
        </p:spPr>
        <p:txBody>
          <a:bodyPr anchorCtr="0" anchor="ctr" bIns="36575" lIns="54850" spcFirstLastPara="1" rIns="548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FFFFFF"/>
                </a:solidFill>
                <a:latin typeface="Bodoni Moda"/>
                <a:ea typeface="Bodoni Moda"/>
                <a:cs typeface="Bodoni Moda"/>
                <a:sym typeface="Bodoni Moda"/>
              </a:rPr>
              <a:t>AGREE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stronger signal</a:t>
            </a:r>
            <a:endParaRPr/>
          </a:p>
        </p:txBody>
      </p:sp>
      <p:sp>
        <p:nvSpPr>
          <p:cNvPr id="233" name="Google Shape;233;p27"/>
          <p:cNvSpPr/>
          <p:nvPr/>
        </p:nvSpPr>
        <p:spPr>
          <a:xfrm>
            <a:off x="5806440" y="2862072"/>
            <a:ext cx="1097280" cy="658368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0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54850" spcFirstLastPara="1" rIns="548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C01F1F"/>
                </a:solidFill>
                <a:latin typeface="Bodoni Moda"/>
                <a:ea typeface="Bodoni Moda"/>
                <a:cs typeface="Bodoni Moda"/>
                <a:sym typeface="Bodoni Moda"/>
              </a:rPr>
              <a:t>DISAGREE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C01F1F"/>
                </a:solidFill>
                <a:latin typeface="DM Sans"/>
                <a:ea typeface="DM Sans"/>
                <a:cs typeface="DM Sans"/>
                <a:sym typeface="DM Sans"/>
              </a:rPr>
              <a:t>uncertainty signal</a:t>
            </a:r>
            <a:endParaRPr/>
          </a:p>
        </p:txBody>
      </p:sp>
      <p:sp>
        <p:nvSpPr>
          <p:cNvPr id="234" name="Google Shape;234;p27"/>
          <p:cNvSpPr/>
          <p:nvPr/>
        </p:nvSpPr>
        <p:spPr>
          <a:xfrm>
            <a:off x="7178040" y="1874519"/>
            <a:ext cx="1234440" cy="1051560"/>
          </a:xfrm>
          <a:prstGeom prst="roundRect">
            <a:avLst>
              <a:gd fmla="val 10000" name="adj"/>
            </a:avLst>
          </a:prstGeom>
          <a:solidFill>
            <a:srgbClr val="242852"/>
          </a:solidFill>
          <a:ln>
            <a:noFill/>
          </a:ln>
        </p:spPr>
        <p:txBody>
          <a:bodyPr anchorCtr="0" anchor="ctr" bIns="36575" lIns="54850" spcFirstLastPara="1" rIns="548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0" u="none" cap="none" strike="noStrike">
                <a:solidFill>
                  <a:srgbClr val="FFFFFF"/>
                </a:solidFill>
                <a:latin typeface="Bodoni Moda"/>
                <a:ea typeface="Bodoni Moda"/>
                <a:cs typeface="Bodoni Moda"/>
                <a:sym typeface="Bodoni Moda"/>
              </a:rPr>
              <a:t>Human Validator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reviews flagged cases, corrects, feeds approved corrections back</a:t>
            </a:r>
            <a:endParaRPr/>
          </a:p>
        </p:txBody>
      </p:sp>
      <p:cxnSp>
        <p:nvCxnSpPr>
          <p:cNvPr id="235" name="Google Shape;235;p27"/>
          <p:cNvCxnSpPr/>
          <p:nvPr/>
        </p:nvCxnSpPr>
        <p:spPr>
          <a:xfrm>
            <a:off x="1874519" y="2395728"/>
            <a:ext cx="137161" cy="0"/>
          </a:xfrm>
          <a:prstGeom prst="straightConnector1">
            <a:avLst/>
          </a:prstGeom>
          <a:noFill/>
          <a:ln cap="flat" cmpd="sng" w="19050">
            <a:solidFill>
              <a:srgbClr val="5F63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6" name="Google Shape;236;p27"/>
          <p:cNvCxnSpPr/>
          <p:nvPr/>
        </p:nvCxnSpPr>
        <p:spPr>
          <a:xfrm>
            <a:off x="2011680" y="1645920"/>
            <a:ext cx="0" cy="1508760"/>
          </a:xfrm>
          <a:prstGeom prst="straightConnector1">
            <a:avLst/>
          </a:prstGeom>
          <a:noFill/>
          <a:ln cap="flat" cmpd="sng" w="19050">
            <a:solidFill>
              <a:srgbClr val="5F63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7" name="Google Shape;237;p27"/>
          <p:cNvCxnSpPr/>
          <p:nvPr/>
        </p:nvCxnSpPr>
        <p:spPr>
          <a:xfrm>
            <a:off x="2011680" y="1645920"/>
            <a:ext cx="164592" cy="0"/>
          </a:xfrm>
          <a:prstGeom prst="straightConnector1">
            <a:avLst/>
          </a:prstGeom>
          <a:noFill/>
          <a:ln cap="flat" cmpd="sng" w="15875">
            <a:solidFill>
              <a:srgbClr val="5F63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8" name="Google Shape;238;p27"/>
          <p:cNvCxnSpPr/>
          <p:nvPr/>
        </p:nvCxnSpPr>
        <p:spPr>
          <a:xfrm>
            <a:off x="2011680" y="3154680"/>
            <a:ext cx="164592" cy="0"/>
          </a:xfrm>
          <a:prstGeom prst="straightConnector1">
            <a:avLst/>
          </a:prstGeom>
          <a:noFill/>
          <a:ln cap="flat" cmpd="sng" w="15875">
            <a:solidFill>
              <a:srgbClr val="5F63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9" name="Google Shape;239;p27"/>
          <p:cNvCxnSpPr/>
          <p:nvPr/>
        </p:nvCxnSpPr>
        <p:spPr>
          <a:xfrm>
            <a:off x="3611880" y="1645920"/>
            <a:ext cx="301752" cy="502920"/>
          </a:xfrm>
          <a:prstGeom prst="straightConnector1">
            <a:avLst/>
          </a:prstGeom>
          <a:noFill/>
          <a:ln cap="flat" cmpd="sng" w="15875">
            <a:solidFill>
              <a:srgbClr val="5F63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0" name="Google Shape;240;p27"/>
          <p:cNvCxnSpPr/>
          <p:nvPr/>
        </p:nvCxnSpPr>
        <p:spPr>
          <a:xfrm flipH="1" rot="10800000">
            <a:off x="3611880" y="2651760"/>
            <a:ext cx="301752" cy="502920"/>
          </a:xfrm>
          <a:prstGeom prst="straightConnector1">
            <a:avLst/>
          </a:prstGeom>
          <a:noFill/>
          <a:ln cap="flat" cmpd="sng" w="15875">
            <a:solidFill>
              <a:srgbClr val="5F63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1" name="Google Shape;241;p27"/>
          <p:cNvCxnSpPr/>
          <p:nvPr/>
        </p:nvCxnSpPr>
        <p:spPr>
          <a:xfrm flipH="1" rot="10800000">
            <a:off x="5486400" y="1600200"/>
            <a:ext cx="301752" cy="548640"/>
          </a:xfrm>
          <a:prstGeom prst="straightConnector1">
            <a:avLst/>
          </a:prstGeom>
          <a:noFill/>
          <a:ln cap="flat" cmpd="sng" w="22225">
            <a:solidFill>
              <a:srgbClr val="629DD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2" name="Google Shape;242;p27"/>
          <p:cNvCxnSpPr/>
          <p:nvPr/>
        </p:nvCxnSpPr>
        <p:spPr>
          <a:xfrm>
            <a:off x="5486400" y="2651760"/>
            <a:ext cx="301752" cy="502920"/>
          </a:xfrm>
          <a:prstGeom prst="straightConnector1">
            <a:avLst/>
          </a:prstGeom>
          <a:noFill/>
          <a:ln cap="flat" cmpd="sng" w="22225">
            <a:solidFill>
              <a:srgbClr val="C01F1F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3" name="Google Shape;243;p27"/>
          <p:cNvCxnSpPr/>
          <p:nvPr/>
        </p:nvCxnSpPr>
        <p:spPr>
          <a:xfrm>
            <a:off x="6903720" y="1600200"/>
            <a:ext cx="256032" cy="548640"/>
          </a:xfrm>
          <a:prstGeom prst="straightConnector1">
            <a:avLst/>
          </a:prstGeom>
          <a:noFill/>
          <a:ln cap="flat" cmpd="sng" w="22225">
            <a:solidFill>
              <a:srgbClr val="629DD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4" name="Google Shape;244;p27"/>
          <p:cNvCxnSpPr/>
          <p:nvPr/>
        </p:nvCxnSpPr>
        <p:spPr>
          <a:xfrm flipH="1" rot="10800000">
            <a:off x="6903720" y="2651760"/>
            <a:ext cx="256032" cy="502920"/>
          </a:xfrm>
          <a:prstGeom prst="straightConnector1">
            <a:avLst/>
          </a:prstGeom>
          <a:noFill/>
          <a:ln cap="flat" cmpd="sng" w="22225">
            <a:solidFill>
              <a:srgbClr val="C01F1F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5" name="Google Shape;245;p27"/>
          <p:cNvSpPr/>
          <p:nvPr/>
        </p:nvSpPr>
        <p:spPr>
          <a:xfrm>
            <a:off x="914400" y="3730752"/>
            <a:ext cx="7498079" cy="566928"/>
          </a:xfrm>
          <a:prstGeom prst="roundRect">
            <a:avLst>
              <a:gd fmla="val 50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Later, once the basic pipeline works:  </a:t>
            </a: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Temporal Reasoning Agent for date extraction and arithmetic; Evidence Checker for citation support; optional stronger judge model.</a:t>
            </a:r>
            <a:endParaRPr/>
          </a:p>
        </p:txBody>
      </p:sp>
      <p:sp>
        <p:nvSpPr>
          <p:cNvPr id="246" name="Google Shape;246;p27"/>
          <p:cNvSpPr txBox="1"/>
          <p:nvPr/>
        </p:nvSpPr>
        <p:spPr>
          <a:xfrm>
            <a:off x="914400" y="438912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50" u="none" cap="none" strike="noStrike">
                <a:solidFill>
                  <a:srgbClr val="5F636E"/>
                </a:solidFill>
                <a:latin typeface="DM Sans"/>
                <a:ea typeface="DM Sans"/>
                <a:cs typeface="DM Sans"/>
                <a:sym typeface="DM Sans"/>
              </a:rPr>
              <a:t>Design rule borrowed from Shadow: separate roles, preserve disagreement, and keep the human as final authority.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/>
          <p:nvPr>
            <p:ph type="title"/>
          </p:nvPr>
        </p:nvSpPr>
        <p:spPr>
          <a:xfrm>
            <a:off x="731520" y="201168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GB" sz="2600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4. Benchmark the Models First</a:t>
            </a:r>
            <a:endParaRPr/>
          </a:p>
        </p:txBody>
      </p:sp>
      <p:sp>
        <p:nvSpPr>
          <p:cNvPr id="252" name="Google Shape;252;p28"/>
          <p:cNvSpPr txBox="1"/>
          <p:nvPr/>
        </p:nvSpPr>
        <p:spPr>
          <a:xfrm>
            <a:off x="914400" y="7863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300" u="none" cap="none" strike="noStrike">
                <a:solidFill>
                  <a:srgbClr val="5F636E"/>
                </a:solidFill>
                <a:latin typeface="Bodoni Moda"/>
                <a:ea typeface="Bodoni Moda"/>
                <a:cs typeface="Bodoni Moda"/>
                <a:sym typeface="Bodoni Moda"/>
              </a:rPr>
              <a:t>Same test set, same recorded outputs: pick models by measured performance, not reputation.</a:t>
            </a:r>
            <a:endParaRPr/>
          </a:p>
        </p:txBody>
      </p:sp>
      <p:graphicFrame>
        <p:nvGraphicFramePr>
          <p:cNvPr id="253" name="Google Shape;253;p28"/>
          <p:cNvGraphicFramePr/>
          <p:nvPr/>
        </p:nvGraphicFramePr>
        <p:xfrm>
          <a:off x="914400" y="129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{2A0104E1-067A-4180-93F5-F9CAC4D92C1A}</a:tableStyleId>
              </a:tblPr>
              <a:tblGrid>
                <a:gridCol w="1508750"/>
                <a:gridCol w="2560325"/>
                <a:gridCol w="2331725"/>
                <a:gridCol w="10972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100" u="none" cap="none" strike="noStrike">
                          <a:solidFill>
                            <a:srgbClr val="FFFFFF"/>
                          </a:solidFill>
                          <a:latin typeface="Bodoni Moda"/>
                          <a:ea typeface="Bodoni Moda"/>
                          <a:cs typeface="Bodoni Moda"/>
                          <a:sym typeface="Bodoni Moda"/>
                        </a:rPr>
                        <a:t>Model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100" u="none" cap="none" strike="noStrike">
                          <a:solidFill>
                            <a:srgbClr val="FFFFFF"/>
                          </a:solidFill>
                          <a:latin typeface="Bodoni Moda"/>
                          <a:ea typeface="Bodoni Moda"/>
                          <a:cs typeface="Bodoni Moda"/>
                          <a:sym typeface="Bodoni Moda"/>
                        </a:rPr>
                        <a:t>Intended role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100" u="none" cap="none" strike="noStrike">
                          <a:solidFill>
                            <a:srgbClr val="FFFFFF"/>
                          </a:solidFill>
                          <a:latin typeface="Bodoni Moda"/>
                          <a:ea typeface="Bodoni Moda"/>
                          <a:cs typeface="Bodoni Moda"/>
                          <a:sym typeface="Bodoni Moda"/>
                        </a:rPr>
                        <a:t>Price / 1M tokens (in / out)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100" u="none" cap="none" strike="noStrike">
                          <a:solidFill>
                            <a:srgbClr val="FFFFFF"/>
                          </a:solidFill>
                          <a:latin typeface="Bodoni Moda"/>
                          <a:ea typeface="Bodoni Moda"/>
                          <a:cs typeface="Bodoni Moda"/>
                          <a:sym typeface="Bodoni Moda"/>
                        </a:rPr>
                        <a:t>Status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242852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150" u="none" cap="none" strike="noStrike">
                          <a:solidFill>
                            <a:srgbClr val="191919"/>
                          </a:solidFill>
                          <a:latin typeface="Bodoni Moda"/>
                          <a:ea typeface="Bodoni Moda"/>
                          <a:cs typeface="Bodoni Moda"/>
                          <a:sym typeface="Bodoni Moda"/>
                        </a:rPr>
                        <a:t>GPT-OSS 20B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cap="none" strike="noStrike">
                          <a:solidFill>
                            <a:srgbClr val="19191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Cheap reader / extraction baseline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cap="none" strike="noStrike">
                          <a:solidFill>
                            <a:srgbClr val="4A66A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$0.075 / $0.30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cap="none" strike="noStrike">
                          <a:solidFill>
                            <a:srgbClr val="19191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Production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EAF1FD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150" u="none" cap="none" strike="noStrike">
                          <a:solidFill>
                            <a:srgbClr val="191919"/>
                          </a:solidFill>
                          <a:latin typeface="Bodoni Moda"/>
                          <a:ea typeface="Bodoni Moda"/>
                          <a:cs typeface="Bodoni Moda"/>
                          <a:sym typeface="Bodoni Moda"/>
                        </a:rPr>
                        <a:t>GPT-OSS 120B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cap="none" strike="noStrike">
                          <a:solidFill>
                            <a:srgbClr val="19191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Stronger reader or adjudicator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cap="none" strike="noStrike">
                          <a:solidFill>
                            <a:srgbClr val="4A66A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$0.15 / $0.60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cap="none" strike="noStrike">
                          <a:solidFill>
                            <a:srgbClr val="19191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Production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150" u="none" cap="none" strike="noStrike">
                          <a:solidFill>
                            <a:srgbClr val="191919"/>
                          </a:solidFill>
                          <a:latin typeface="Bodoni Moda"/>
                          <a:ea typeface="Bodoni Moda"/>
                          <a:cs typeface="Bodoni Moda"/>
                          <a:sym typeface="Bodoni Moda"/>
                        </a:rPr>
                        <a:t>Qwen 3.8 27B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cap="none" strike="noStrike">
                          <a:solidFill>
                            <a:srgbClr val="19191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Reasoning benchmark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cap="none" strike="noStrike">
                          <a:solidFill>
                            <a:srgbClr val="4A66A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$0.80 / $4.00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cap="none" strike="noStrike">
                          <a:solidFill>
                            <a:srgbClr val="19191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Preview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254" name="Google Shape;254;p28"/>
          <p:cNvSpPr/>
          <p:nvPr/>
        </p:nvSpPr>
        <p:spPr>
          <a:xfrm>
            <a:off x="914400" y="3310128"/>
            <a:ext cx="7498079" cy="658368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5875">
            <a:solidFill>
              <a:srgbClr val="C0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228600" spcFirstLastPara="1" rIns="2286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C01F1F"/>
                </a:solidFill>
                <a:latin typeface="DM Sans"/>
                <a:ea typeface="DM Sans"/>
                <a:cs typeface="DM Sans"/>
                <a:sym typeface="DM Sans"/>
              </a:rPr>
              <a:t>Important  </a:t>
            </a:r>
            <a:r>
              <a:rPr b="0" i="0" lang="en-GB" sz="10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The Llama model IDs used in Capstone I are deprecated on the standard Groq developer tier. Capstone II must update the model configuration before official experiments.</a:t>
            </a:r>
            <a:endParaRPr/>
          </a:p>
        </p:txBody>
      </p:sp>
      <p:sp>
        <p:nvSpPr>
          <p:cNvPr id="255" name="Google Shape;255;p28"/>
          <p:cNvSpPr txBox="1"/>
          <p:nvPr/>
        </p:nvSpPr>
        <p:spPr>
          <a:xfrm>
            <a:off x="914400" y="4114800"/>
            <a:ext cx="74980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50" u="none" cap="none" strike="noStrike">
                <a:solidFill>
                  <a:srgbClr val="5F636E"/>
                </a:solidFill>
                <a:latin typeface="DM Sans"/>
                <a:ea typeface="DM Sans"/>
                <a:cs typeface="DM Sans"/>
                <a:sym typeface="DM Sans"/>
              </a:rPr>
              <a:t>Groq docs checked Sep 23, 2026: GPT-OSS 20B and 120B are production models; Qwen 3.8 27B is a preview model.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 txBox="1"/>
          <p:nvPr>
            <p:ph type="title"/>
          </p:nvPr>
        </p:nvSpPr>
        <p:spPr>
          <a:xfrm>
            <a:off x="731520" y="201168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GB" sz="2600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4. Pilot and Budget</a:t>
            </a:r>
            <a:endParaRPr/>
          </a:p>
        </p:txBody>
      </p:sp>
      <p:sp>
        <p:nvSpPr>
          <p:cNvPr id="261" name="Google Shape;261;p29"/>
          <p:cNvSpPr txBox="1"/>
          <p:nvPr/>
        </p:nvSpPr>
        <p:spPr>
          <a:xfrm>
            <a:off x="914400" y="7863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300" u="none" cap="none" strike="noStrike">
                <a:solidFill>
                  <a:srgbClr val="5F636E"/>
                </a:solidFill>
                <a:latin typeface="Bodoni Moda"/>
                <a:ea typeface="Bodoni Moda"/>
                <a:cs typeface="Bodoni Moda"/>
                <a:sym typeface="Bodoni Moda"/>
              </a:rPr>
              <a:t>Measure real usage on a small pilot, then extrapolate before scaling to the full corpus.</a:t>
            </a:r>
            <a:endParaRPr/>
          </a:p>
        </p:txBody>
      </p:sp>
      <p:sp>
        <p:nvSpPr>
          <p:cNvPr id="262" name="Google Shape;262;p29"/>
          <p:cNvSpPr/>
          <p:nvPr/>
        </p:nvSpPr>
        <p:spPr>
          <a:xfrm>
            <a:off x="731520" y="1216152"/>
            <a:ext cx="3749039" cy="1600200"/>
          </a:xfrm>
          <a:prstGeom prst="roundRect">
            <a:avLst>
              <a:gd fmla="val 12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960120" y="1298448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800" u="none" cap="none" strike="noStrike">
                <a:solidFill>
                  <a:srgbClr val="4A66AC"/>
                </a:solidFill>
                <a:latin typeface="Bodoni Moda"/>
                <a:ea typeface="Bodoni Moda"/>
                <a:cs typeface="Bodoni Moda"/>
                <a:sym typeface="Bodoni Moda"/>
              </a:rPr>
              <a:t>20</a:t>
            </a:r>
            <a:endParaRPr/>
          </a:p>
        </p:txBody>
      </p:sp>
      <p:sp>
        <p:nvSpPr>
          <p:cNvPr id="264" name="Google Shape;264;p29"/>
          <p:cNvSpPr txBox="1"/>
          <p:nvPr/>
        </p:nvSpPr>
        <p:spPr>
          <a:xfrm>
            <a:off x="960120" y="2011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50" u="none" cap="none" strike="noStrike">
                <a:solidFill>
                  <a:srgbClr val="242852"/>
                </a:solidFill>
                <a:latin typeface="Bodoni Moda"/>
                <a:ea typeface="Bodoni Moda"/>
                <a:cs typeface="Bodoni Moda"/>
                <a:sym typeface="Bodoni Moda"/>
              </a:rPr>
              <a:t>case pilot first</a:t>
            </a:r>
            <a:endParaRPr/>
          </a:p>
        </p:txBody>
      </p:sp>
      <p:sp>
        <p:nvSpPr>
          <p:cNvPr id="265" name="Google Shape;265;p29"/>
          <p:cNvSpPr txBox="1"/>
          <p:nvPr/>
        </p:nvSpPr>
        <p:spPr>
          <a:xfrm>
            <a:off x="2880360" y="1371600"/>
            <a:ext cx="1417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Record input and output tokens, latency and cost per case. Extrapolate from real usage before scaling.</a:t>
            </a:r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4663440" y="1216152"/>
            <a:ext cx="3749039" cy="1600200"/>
          </a:xfrm>
          <a:prstGeom prst="roundRect">
            <a:avLst>
              <a:gd fmla="val 12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4892040" y="1298448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700" u="none" cap="none" strike="noStrike">
                <a:solidFill>
                  <a:srgbClr val="4A66AC"/>
                </a:solidFill>
                <a:latin typeface="Bodoni Moda"/>
                <a:ea typeface="Bodoni Moda"/>
                <a:cs typeface="Bodoni Moda"/>
                <a:sym typeface="Bodoni Moda"/>
              </a:rPr>
              <a:t>$100-150</a:t>
            </a:r>
            <a:endParaRPr/>
          </a:p>
        </p:txBody>
      </p:sp>
      <p:sp>
        <p:nvSpPr>
          <p:cNvPr id="268" name="Google Shape;268;p29"/>
          <p:cNvSpPr txBox="1"/>
          <p:nvPr/>
        </p:nvSpPr>
        <p:spPr>
          <a:xfrm>
            <a:off x="4892040" y="2011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50" u="none" cap="none" strike="noStrike">
                <a:solidFill>
                  <a:srgbClr val="242852"/>
                </a:solidFill>
                <a:latin typeface="Bodoni Moda"/>
                <a:ea typeface="Bodoni Moda"/>
                <a:cs typeface="Bodoni Moda"/>
                <a:sym typeface="Bodoni Moda"/>
              </a:rPr>
              <a:t>semester budget</a:t>
            </a:r>
            <a:endParaRPr/>
          </a:p>
        </p:txBody>
      </p:sp>
      <p:sp>
        <p:nvSpPr>
          <p:cNvPr id="269" name="Google Shape;269;p29"/>
          <p:cNvSpPr txBox="1"/>
          <p:nvPr/>
        </p:nvSpPr>
        <p:spPr>
          <a:xfrm>
            <a:off x="6812279" y="1371600"/>
            <a:ext cx="1417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One project API owner for official runs, Dummy mode for development. Headroom for repeated benchmarks; refine after the pilot.</a:t>
            </a:r>
            <a:endParaRPr/>
          </a:p>
        </p:txBody>
      </p:sp>
      <p:sp>
        <p:nvSpPr>
          <p:cNvPr id="270" name="Google Shape;270;p29"/>
          <p:cNvSpPr txBox="1"/>
          <p:nvPr/>
        </p:nvSpPr>
        <p:spPr>
          <a:xfrm>
            <a:off x="731520" y="30175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5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What every run records</a:t>
            </a:r>
            <a:endParaRPr/>
          </a:p>
        </p:txBody>
      </p:sp>
      <p:sp>
        <p:nvSpPr>
          <p:cNvPr id="271" name="Google Shape;271;p29"/>
          <p:cNvSpPr/>
          <p:nvPr/>
        </p:nvSpPr>
        <p:spPr>
          <a:xfrm>
            <a:off x="749808" y="3401568"/>
            <a:ext cx="1783080" cy="347472"/>
          </a:xfrm>
          <a:prstGeom prst="roundRect">
            <a:avLst>
              <a:gd fmla="val 50000" name="adj"/>
            </a:avLst>
          </a:prstGeom>
          <a:solidFill>
            <a:srgbClr val="ACCBF9"/>
          </a:solidFill>
          <a:ln>
            <a:noFill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Case ID</a:t>
            </a:r>
            <a:endParaRPr/>
          </a:p>
        </p:txBody>
      </p:sp>
      <p:sp>
        <p:nvSpPr>
          <p:cNvPr id="272" name="Google Shape;272;p29"/>
          <p:cNvSpPr/>
          <p:nvPr/>
        </p:nvSpPr>
        <p:spPr>
          <a:xfrm>
            <a:off x="2715768" y="3401568"/>
            <a:ext cx="178308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ACC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Model / agent role</a:t>
            </a:r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4681727" y="3401568"/>
            <a:ext cx="1783080" cy="347472"/>
          </a:xfrm>
          <a:prstGeom prst="roundRect">
            <a:avLst>
              <a:gd fmla="val 50000" name="adj"/>
            </a:avLst>
          </a:prstGeom>
          <a:solidFill>
            <a:srgbClr val="ACCBF9"/>
          </a:solidFill>
          <a:ln>
            <a:noFill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Answer</a:t>
            </a:r>
            <a:endParaRPr/>
          </a:p>
        </p:txBody>
      </p:sp>
      <p:sp>
        <p:nvSpPr>
          <p:cNvPr id="274" name="Google Shape;274;p29"/>
          <p:cNvSpPr/>
          <p:nvPr/>
        </p:nvSpPr>
        <p:spPr>
          <a:xfrm>
            <a:off x="6647687" y="3401568"/>
            <a:ext cx="178308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ACC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Cited evidence</a:t>
            </a:r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749808" y="3858768"/>
            <a:ext cx="178308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ACC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Confidence</a:t>
            </a:r>
            <a:endParaRPr/>
          </a:p>
        </p:txBody>
      </p:sp>
      <p:sp>
        <p:nvSpPr>
          <p:cNvPr id="276" name="Google Shape;276;p29"/>
          <p:cNvSpPr/>
          <p:nvPr/>
        </p:nvSpPr>
        <p:spPr>
          <a:xfrm>
            <a:off x="2715768" y="3858768"/>
            <a:ext cx="1783080" cy="347472"/>
          </a:xfrm>
          <a:prstGeom prst="roundRect">
            <a:avLst>
              <a:gd fmla="val 50000" name="adj"/>
            </a:avLst>
          </a:prstGeom>
          <a:solidFill>
            <a:srgbClr val="ACCBF9"/>
          </a:solidFill>
          <a:ln>
            <a:noFill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Human correct?</a:t>
            </a:r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4681727" y="3858768"/>
            <a:ext cx="178308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ACC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Tokens / cost</a:t>
            </a:r>
            <a:endParaRPr/>
          </a:p>
        </p:txBody>
      </p:sp>
      <p:sp>
        <p:nvSpPr>
          <p:cNvPr id="278" name="Google Shape;278;p29"/>
          <p:cNvSpPr/>
          <p:nvPr/>
        </p:nvSpPr>
        <p:spPr>
          <a:xfrm>
            <a:off x="6647687" y="3858768"/>
            <a:ext cx="1783080" cy="347472"/>
          </a:xfrm>
          <a:prstGeom prst="roundRect">
            <a:avLst>
              <a:gd fmla="val 50000" name="adj"/>
            </a:avLst>
          </a:prstGeom>
          <a:solidFill>
            <a:srgbClr val="ACCBF9"/>
          </a:solidFill>
          <a:ln>
            <a:noFill/>
          </a:ln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Latency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title"/>
          </p:nvPr>
        </p:nvSpPr>
        <p:spPr>
          <a:xfrm>
            <a:off x="731520" y="201168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GB" sz="2600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5. Delivery Plan</a:t>
            </a:r>
            <a:endParaRPr/>
          </a:p>
        </p:txBody>
      </p:sp>
      <p:sp>
        <p:nvSpPr>
          <p:cNvPr id="284" name="Google Shape;284;p30"/>
          <p:cNvSpPr txBox="1"/>
          <p:nvPr/>
        </p:nvSpPr>
        <p:spPr>
          <a:xfrm>
            <a:off x="914400" y="7863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300" u="none" cap="none" strike="noStrike">
                <a:solidFill>
                  <a:srgbClr val="5F636E"/>
                </a:solidFill>
                <a:latin typeface="Bodoni Moda"/>
                <a:ea typeface="Bodoni Moda"/>
                <a:cs typeface="Bodoni Moda"/>
                <a:sym typeface="Bodoni Moda"/>
              </a:rPr>
              <a:t>Next milestone: a reproducible baseline, a working council prototype, and a fair comparison.</a:t>
            </a:r>
            <a:endParaRPr/>
          </a:p>
        </p:txBody>
      </p:sp>
      <p:cxnSp>
        <p:nvCxnSpPr>
          <p:cNvPr id="285" name="Google Shape;285;p30"/>
          <p:cNvCxnSpPr/>
          <p:nvPr/>
        </p:nvCxnSpPr>
        <p:spPr>
          <a:xfrm>
            <a:off x="1005839" y="1517904"/>
            <a:ext cx="7132320" cy="0"/>
          </a:xfrm>
          <a:prstGeom prst="straightConnector1">
            <a:avLst/>
          </a:prstGeom>
          <a:noFill/>
          <a:ln cap="flat" cmpd="sng" w="31750">
            <a:solidFill>
              <a:srgbClr val="ACCB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6" name="Google Shape;286;p30"/>
          <p:cNvSpPr/>
          <p:nvPr/>
        </p:nvSpPr>
        <p:spPr>
          <a:xfrm>
            <a:off x="1197863" y="1271016"/>
            <a:ext cx="493776" cy="493776"/>
          </a:xfrm>
          <a:prstGeom prst="rect">
            <a:avLst/>
          </a:prstGeom>
          <a:solidFill>
            <a:srgbClr val="242852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Bodoni Moda"/>
                <a:ea typeface="Bodoni Moda"/>
                <a:cs typeface="Bodoni Moda"/>
                <a:sym typeface="Bodoni Moda"/>
              </a:rPr>
              <a:t>01</a:t>
            </a:r>
            <a:endParaRPr/>
          </a:p>
        </p:txBody>
      </p:sp>
      <p:sp>
        <p:nvSpPr>
          <p:cNvPr id="287" name="Google Shape;287;p30"/>
          <p:cNvSpPr txBox="1"/>
          <p:nvPr/>
        </p:nvSpPr>
        <p:spPr>
          <a:xfrm>
            <a:off x="731519" y="1874519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Reproduce</a:t>
            </a:r>
            <a:endParaRPr/>
          </a:p>
        </p:txBody>
      </p:sp>
      <p:sp>
        <p:nvSpPr>
          <p:cNvPr id="288" name="Google Shape;288;p30"/>
          <p:cNvSpPr txBox="1"/>
          <p:nvPr/>
        </p:nvSpPr>
        <p:spPr>
          <a:xfrm>
            <a:off x="777239" y="2194560"/>
            <a:ext cx="13350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Run the existing app with Dummy AI; trace the baseline</a:t>
            </a:r>
            <a:endParaRPr/>
          </a:p>
        </p:txBody>
      </p:sp>
      <p:sp>
        <p:nvSpPr>
          <p:cNvPr id="289" name="Google Shape;289;p30"/>
          <p:cNvSpPr/>
          <p:nvPr/>
        </p:nvSpPr>
        <p:spPr>
          <a:xfrm>
            <a:off x="987551" y="2816352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Week 1</a:t>
            </a:r>
            <a:endParaRPr/>
          </a:p>
        </p:txBody>
      </p:sp>
      <p:sp>
        <p:nvSpPr>
          <p:cNvPr id="290" name="Google Shape;290;p30"/>
          <p:cNvSpPr/>
          <p:nvPr/>
        </p:nvSpPr>
        <p:spPr>
          <a:xfrm>
            <a:off x="2761488" y="1271016"/>
            <a:ext cx="493776" cy="493776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Bodoni Moda"/>
                <a:ea typeface="Bodoni Moda"/>
                <a:cs typeface="Bodoni Moda"/>
                <a:sym typeface="Bodoni Moda"/>
              </a:rPr>
              <a:t>02</a:t>
            </a:r>
            <a:endParaRPr/>
          </a:p>
        </p:txBody>
      </p:sp>
      <p:sp>
        <p:nvSpPr>
          <p:cNvPr id="291" name="Google Shape;291;p30"/>
          <p:cNvSpPr txBox="1"/>
          <p:nvPr/>
        </p:nvSpPr>
        <p:spPr>
          <a:xfrm>
            <a:off x="2295144" y="1874519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Benchmark</a:t>
            </a:r>
            <a:endParaRPr/>
          </a:p>
        </p:txBody>
      </p:sp>
      <p:sp>
        <p:nvSpPr>
          <p:cNvPr id="292" name="Google Shape;292;p30"/>
          <p:cNvSpPr txBox="1"/>
          <p:nvPr/>
        </p:nvSpPr>
        <p:spPr>
          <a:xfrm>
            <a:off x="2340863" y="2194560"/>
            <a:ext cx="13350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Fixed cases; compare 2 to 3 current LLMs</a:t>
            </a:r>
            <a:endParaRPr/>
          </a:p>
        </p:txBody>
      </p:sp>
      <p:sp>
        <p:nvSpPr>
          <p:cNvPr id="293" name="Google Shape;293;p30"/>
          <p:cNvSpPr/>
          <p:nvPr/>
        </p:nvSpPr>
        <p:spPr>
          <a:xfrm>
            <a:off x="2551176" y="2816352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Week 2</a:t>
            </a:r>
            <a:endParaRPr/>
          </a:p>
        </p:txBody>
      </p:sp>
      <p:sp>
        <p:nvSpPr>
          <p:cNvPr id="294" name="Google Shape;294;p30"/>
          <p:cNvSpPr/>
          <p:nvPr/>
        </p:nvSpPr>
        <p:spPr>
          <a:xfrm>
            <a:off x="4325112" y="1271016"/>
            <a:ext cx="493776" cy="493776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Bodoni Moda"/>
                <a:ea typeface="Bodoni Moda"/>
                <a:cs typeface="Bodoni Moda"/>
                <a:sym typeface="Bodoni Moda"/>
              </a:rPr>
              <a:t>03</a:t>
            </a:r>
            <a:endParaRPr/>
          </a:p>
        </p:txBody>
      </p:sp>
      <p:sp>
        <p:nvSpPr>
          <p:cNvPr id="295" name="Google Shape;295;p30"/>
          <p:cNvSpPr txBox="1"/>
          <p:nvPr/>
        </p:nvSpPr>
        <p:spPr>
          <a:xfrm>
            <a:off x="3858768" y="1874519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Build</a:t>
            </a:r>
            <a:endParaRPr/>
          </a:p>
        </p:txBody>
      </p:sp>
      <p:sp>
        <p:nvSpPr>
          <p:cNvPr id="296" name="Google Shape;296;p30"/>
          <p:cNvSpPr txBox="1"/>
          <p:nvPr/>
        </p:nvSpPr>
        <p:spPr>
          <a:xfrm>
            <a:off x="3904487" y="2194560"/>
            <a:ext cx="13350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2 readers + adjudicator as a separate backend layer</a:t>
            </a:r>
            <a:endParaRPr/>
          </a:p>
        </p:txBody>
      </p:sp>
      <p:sp>
        <p:nvSpPr>
          <p:cNvPr id="297" name="Google Shape;297;p30"/>
          <p:cNvSpPr/>
          <p:nvPr/>
        </p:nvSpPr>
        <p:spPr>
          <a:xfrm>
            <a:off x="4114800" y="2816352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Weeks 3-4</a:t>
            </a:r>
            <a:endParaRPr/>
          </a:p>
        </p:txBody>
      </p:sp>
      <p:sp>
        <p:nvSpPr>
          <p:cNvPr id="298" name="Google Shape;298;p30"/>
          <p:cNvSpPr/>
          <p:nvPr/>
        </p:nvSpPr>
        <p:spPr>
          <a:xfrm>
            <a:off x="5888736" y="1271016"/>
            <a:ext cx="493776" cy="493776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Bodoni Moda"/>
                <a:ea typeface="Bodoni Moda"/>
                <a:cs typeface="Bodoni Moda"/>
                <a:sym typeface="Bodoni Moda"/>
              </a:rPr>
              <a:t>04</a:t>
            </a:r>
            <a:endParaRPr/>
          </a:p>
        </p:txBody>
      </p:sp>
      <p:sp>
        <p:nvSpPr>
          <p:cNvPr id="299" name="Google Shape;299;p30"/>
          <p:cNvSpPr txBox="1"/>
          <p:nvPr/>
        </p:nvSpPr>
        <p:spPr>
          <a:xfrm>
            <a:off x="5422392" y="1874519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Evaluate</a:t>
            </a:r>
            <a:endParaRPr/>
          </a:p>
        </p:txBody>
      </p:sp>
      <p:sp>
        <p:nvSpPr>
          <p:cNvPr id="300" name="Google Shape;300;p30"/>
          <p:cNvSpPr txBox="1"/>
          <p:nvPr/>
        </p:nvSpPr>
        <p:spPr>
          <a:xfrm>
            <a:off x="5468112" y="2194560"/>
            <a:ext cx="13350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Single vs. multi-agent on the identical dataset</a:t>
            </a:r>
            <a:endParaRPr/>
          </a:p>
        </p:txBody>
      </p:sp>
      <p:sp>
        <p:nvSpPr>
          <p:cNvPr id="301" name="Google Shape;301;p30"/>
          <p:cNvSpPr/>
          <p:nvPr/>
        </p:nvSpPr>
        <p:spPr>
          <a:xfrm>
            <a:off x="5678424" y="2816352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Weeks 4-5</a:t>
            </a:r>
            <a:endParaRPr/>
          </a:p>
        </p:txBody>
      </p:sp>
      <p:sp>
        <p:nvSpPr>
          <p:cNvPr id="302" name="Google Shape;302;p30"/>
          <p:cNvSpPr/>
          <p:nvPr/>
        </p:nvSpPr>
        <p:spPr>
          <a:xfrm>
            <a:off x="7452360" y="1271016"/>
            <a:ext cx="493776" cy="493776"/>
          </a:xfrm>
          <a:prstGeom prst="rect">
            <a:avLst/>
          </a:prstGeom>
          <a:solidFill>
            <a:srgbClr val="ACCBF9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242852"/>
                </a:solidFill>
                <a:latin typeface="Bodoni Moda"/>
                <a:ea typeface="Bodoni Moda"/>
                <a:cs typeface="Bodoni Moda"/>
                <a:sym typeface="Bodoni Moda"/>
              </a:rPr>
              <a:t>05</a:t>
            </a:r>
            <a:endParaRPr/>
          </a:p>
        </p:txBody>
      </p:sp>
      <p:sp>
        <p:nvSpPr>
          <p:cNvPr id="303" name="Google Shape;303;p30"/>
          <p:cNvSpPr txBox="1"/>
          <p:nvPr/>
        </p:nvSpPr>
        <p:spPr>
          <a:xfrm>
            <a:off x="6986016" y="1874519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Specialize</a:t>
            </a:r>
            <a:endParaRPr/>
          </a:p>
        </p:txBody>
      </p:sp>
      <p:sp>
        <p:nvSpPr>
          <p:cNvPr id="304" name="Google Shape;304;p30"/>
          <p:cNvSpPr txBox="1"/>
          <p:nvPr/>
        </p:nvSpPr>
        <p:spPr>
          <a:xfrm>
            <a:off x="7031736" y="2194560"/>
            <a:ext cx="13350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Temporal reasoning + disagreement escalation</a:t>
            </a:r>
            <a:endParaRPr/>
          </a:p>
        </p:txBody>
      </p:sp>
      <p:sp>
        <p:nvSpPr>
          <p:cNvPr id="305" name="Google Shape;305;p30"/>
          <p:cNvSpPr/>
          <p:nvPr/>
        </p:nvSpPr>
        <p:spPr>
          <a:xfrm>
            <a:off x="7242048" y="2816352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4A66AC"/>
                </a:solidFill>
                <a:latin typeface="DM Sans"/>
                <a:ea typeface="DM Sans"/>
                <a:cs typeface="DM Sans"/>
                <a:sym typeface="DM Sans"/>
              </a:rPr>
              <a:t>Week 6+</a:t>
            </a:r>
            <a:endParaRPr/>
          </a:p>
        </p:txBody>
      </p:sp>
      <p:sp>
        <p:nvSpPr>
          <p:cNvPr id="306" name="Google Shape;306;p30"/>
          <p:cNvSpPr/>
          <p:nvPr/>
        </p:nvSpPr>
        <p:spPr>
          <a:xfrm>
            <a:off x="731520" y="3364992"/>
            <a:ext cx="7680960" cy="868680"/>
          </a:xfrm>
          <a:prstGeom prst="roundRect">
            <a:avLst>
              <a:gd fmla="val 15000" name="adj"/>
            </a:avLst>
          </a:prstGeom>
          <a:solidFill>
            <a:srgbClr val="242852"/>
          </a:solidFill>
          <a:ln>
            <a:noFill/>
          </a:ln>
        </p:spPr>
        <p:txBody>
          <a:bodyPr anchorCtr="0" anchor="ctr" bIns="36575" lIns="320025" spcFirstLastPara="1" rIns="32002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ACCBF9"/>
                </a:solidFill>
                <a:latin typeface="Bodoni Moda"/>
                <a:ea typeface="Bodoni Moda"/>
                <a:cs typeface="Bodoni Moda"/>
                <a:sym typeface="Bodoni Moda"/>
              </a:rPr>
              <a:t>Next team checkpoint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Everyone can run the baseline; the model shortlist is fixed; the first 20-case benchmark is ready; the agent interfaces are agreed before implementation starts.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/>
          <p:nvPr>
            <p:ph type="title"/>
          </p:nvPr>
        </p:nvSpPr>
        <p:spPr>
          <a:xfrm>
            <a:off x="731520" y="201168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0" lang="en-GB" sz="2600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6. Team Split</a:t>
            </a:r>
            <a:endParaRPr/>
          </a:p>
        </p:txBody>
      </p:sp>
      <p:sp>
        <p:nvSpPr>
          <p:cNvPr id="312" name="Google Shape;312;p31"/>
          <p:cNvSpPr/>
          <p:nvPr/>
        </p:nvSpPr>
        <p:spPr>
          <a:xfrm>
            <a:off x="731520" y="960120"/>
            <a:ext cx="3749039" cy="1463040"/>
          </a:xfrm>
          <a:prstGeom prst="roundRect">
            <a:avLst>
              <a:gd fmla="val 12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914400" y="1161288"/>
            <a:ext cx="310896" cy="310896"/>
          </a:xfrm>
          <a:prstGeom prst="rect">
            <a:avLst/>
          </a:prstGeom>
          <a:solidFill>
            <a:srgbClr val="2428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1"/>
          <p:cNvSpPr txBox="1"/>
          <p:nvPr/>
        </p:nvSpPr>
        <p:spPr>
          <a:xfrm>
            <a:off x="1353312" y="1115568"/>
            <a:ext cx="297179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Initial technical lead</a:t>
            </a:r>
            <a:endParaRPr/>
          </a:p>
        </p:txBody>
      </p:sp>
      <p:sp>
        <p:nvSpPr>
          <p:cNvPr id="315" name="Google Shape;315;p31"/>
          <p:cNvSpPr/>
          <p:nvPr/>
        </p:nvSpPr>
        <p:spPr>
          <a:xfrm>
            <a:off x="1353312" y="1545336"/>
            <a:ext cx="1417320" cy="256032"/>
          </a:xfrm>
          <a:prstGeom prst="roundRect">
            <a:avLst>
              <a:gd fmla="val 50000" name="adj"/>
            </a:avLst>
          </a:prstGeom>
          <a:solidFill>
            <a:srgbClr val="ACCBF9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Alex Ji</a:t>
            </a:r>
            <a:endParaRPr/>
          </a:p>
        </p:txBody>
      </p:sp>
      <p:sp>
        <p:nvSpPr>
          <p:cNvPr id="316" name="Google Shape;316;p31"/>
          <p:cNvSpPr txBox="1"/>
          <p:nvPr/>
        </p:nvSpPr>
        <p:spPr>
          <a:xfrm>
            <a:off x="1353312" y="1874519"/>
            <a:ext cx="297179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Agent roles, orchestration, model benchmark design, evaluation schema. Shares the Shadow repo as a reference pattern.</a:t>
            </a:r>
            <a:endParaRPr/>
          </a:p>
        </p:txBody>
      </p:sp>
      <p:sp>
        <p:nvSpPr>
          <p:cNvPr id="317" name="Google Shape;317;p31"/>
          <p:cNvSpPr/>
          <p:nvPr/>
        </p:nvSpPr>
        <p:spPr>
          <a:xfrm>
            <a:off x="4663440" y="960120"/>
            <a:ext cx="3749039" cy="1463040"/>
          </a:xfrm>
          <a:prstGeom prst="roundRect">
            <a:avLst>
              <a:gd fmla="val 12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4846320" y="1161288"/>
            <a:ext cx="310896" cy="310896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5285231" y="1115568"/>
            <a:ext cx="297179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Baseline + API owner</a:t>
            </a:r>
            <a:endParaRPr/>
          </a:p>
        </p:txBody>
      </p:sp>
      <p:sp>
        <p:nvSpPr>
          <p:cNvPr id="320" name="Google Shape;320;p31"/>
          <p:cNvSpPr/>
          <p:nvPr/>
        </p:nvSpPr>
        <p:spPr>
          <a:xfrm>
            <a:off x="5285231" y="1545336"/>
            <a:ext cx="1417320" cy="256032"/>
          </a:xfrm>
          <a:prstGeom prst="roundRect">
            <a:avLst>
              <a:gd fmla="val 50000" name="adj"/>
            </a:avLst>
          </a:prstGeom>
          <a:solidFill>
            <a:srgbClr val="ACCBF9"/>
          </a:solidFill>
          <a:ln>
            <a:noFill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Leandro Ardiles</a:t>
            </a:r>
            <a:endParaRPr/>
          </a:p>
        </p:txBody>
      </p:sp>
      <p:sp>
        <p:nvSpPr>
          <p:cNvPr id="321" name="Google Shape;321;p31"/>
          <p:cNvSpPr txBox="1"/>
          <p:nvPr/>
        </p:nvSpPr>
        <p:spPr>
          <a:xfrm>
            <a:off x="5285231" y="1874519"/>
            <a:ext cx="297179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Existing system, official API account, experiment execution and cost logs, report and slide polish.</a:t>
            </a:r>
            <a:endParaRPr/>
          </a:p>
        </p:txBody>
      </p:sp>
      <p:sp>
        <p:nvSpPr>
          <p:cNvPr id="322" name="Google Shape;322;p31"/>
          <p:cNvSpPr/>
          <p:nvPr/>
        </p:nvSpPr>
        <p:spPr>
          <a:xfrm>
            <a:off x="731520" y="2606040"/>
            <a:ext cx="3749039" cy="1463040"/>
          </a:xfrm>
          <a:prstGeom prst="roundRect">
            <a:avLst>
              <a:gd fmla="val 12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914400" y="2807208"/>
            <a:ext cx="310896" cy="310896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1353312" y="2761488"/>
            <a:ext cx="297179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Infrastructure owner</a:t>
            </a:r>
            <a:endParaRPr/>
          </a:p>
        </p:txBody>
      </p:sp>
      <p:sp>
        <p:nvSpPr>
          <p:cNvPr id="325" name="Google Shape;325;p31"/>
          <p:cNvSpPr/>
          <p:nvPr/>
        </p:nvSpPr>
        <p:spPr>
          <a:xfrm>
            <a:off x="1353312" y="3191256"/>
            <a:ext cx="1417320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ACC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9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Enock Katenda</a:t>
            </a:r>
            <a:endParaRPr b="1" i="1" sz="900" u="none" cap="none" strike="noStrike">
              <a:solidFill>
                <a:srgbClr val="2428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1353312" y="3520440"/>
            <a:ext cx="297179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Integration, environment and data plumbing once the architecture is frozen.</a:t>
            </a:r>
            <a:endParaRPr/>
          </a:p>
        </p:txBody>
      </p:sp>
      <p:sp>
        <p:nvSpPr>
          <p:cNvPr id="327" name="Google Shape;327;p31"/>
          <p:cNvSpPr/>
          <p:nvPr/>
        </p:nvSpPr>
        <p:spPr>
          <a:xfrm>
            <a:off x="4663440" y="2606040"/>
            <a:ext cx="3749039" cy="1463040"/>
          </a:xfrm>
          <a:prstGeom prst="roundRect">
            <a:avLst>
              <a:gd fmla="val 12000" name="adj"/>
            </a:avLst>
          </a:prstGeom>
          <a:solidFill>
            <a:srgbClr val="EAF1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4846320" y="2807208"/>
            <a:ext cx="310896" cy="310896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5285231" y="2761488"/>
            <a:ext cx="297179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191919"/>
                </a:solidFill>
                <a:latin typeface="Bodoni Moda"/>
                <a:ea typeface="Bodoni Moda"/>
                <a:cs typeface="Bodoni Moda"/>
                <a:sym typeface="Bodoni Moda"/>
              </a:rPr>
              <a:t>Evaluation + documentation</a:t>
            </a:r>
            <a:endParaRPr/>
          </a:p>
        </p:txBody>
      </p:sp>
      <p:sp>
        <p:nvSpPr>
          <p:cNvPr id="330" name="Google Shape;330;p31"/>
          <p:cNvSpPr/>
          <p:nvPr/>
        </p:nvSpPr>
        <p:spPr>
          <a:xfrm>
            <a:off x="5285231" y="3191256"/>
            <a:ext cx="1417320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ACC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0" spcFirstLastPara="1" rIns="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900" u="none" cap="none" strike="noStrike">
                <a:solidFill>
                  <a:srgbClr val="242852"/>
                </a:solidFill>
                <a:latin typeface="DM Sans"/>
                <a:ea typeface="DM Sans"/>
                <a:cs typeface="DM Sans"/>
                <a:sym typeface="DM Sans"/>
              </a:rPr>
              <a:t>Tafadzwa Nyemba</a:t>
            </a:r>
            <a:endParaRPr b="1" i="1" sz="900" u="none" cap="none" strike="noStrike">
              <a:solidFill>
                <a:srgbClr val="2428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1" name="Google Shape;331;p31"/>
          <p:cNvSpPr txBox="1"/>
          <p:nvPr/>
        </p:nvSpPr>
        <p:spPr>
          <a:xfrm>
            <a:off x="5285231" y="3520440"/>
            <a:ext cx="297179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Ground truth, metrics, result tables, literature notes and the experiment log.</a:t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731520" y="431596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50" u="none" cap="none" strike="noStrike">
                <a:solidFill>
                  <a:srgbClr val="5F636E"/>
                </a:solidFill>
                <a:latin typeface="DM Sans"/>
                <a:ea typeface="DM Sans"/>
                <a:cs typeface="DM Sans"/>
                <a:sym typeface="DM Sans"/>
              </a:rPr>
              <a:t>Role ownership can rotate; the purpose is to avoid one person becoming the bottleneck.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"/>
          <p:cNvSpPr txBox="1"/>
          <p:nvPr/>
        </p:nvSpPr>
        <p:spPr>
          <a:xfrm>
            <a:off x="1733140" y="1458657"/>
            <a:ext cx="337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</a:pPr>
            <a:r>
              <a:rPr b="1" i="0" lang="en-GB" sz="33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rPr>
              <a:t>Discussion</a:t>
            </a:r>
            <a:endParaRPr b="1" i="0" sz="3300" u="none" cap="none" strike="noStrike">
              <a:solidFill>
                <a:schemeClr val="dk1"/>
              </a:solidFill>
              <a:latin typeface="Bodoni Moda"/>
              <a:ea typeface="Bodoni Moda"/>
              <a:cs typeface="Bodoni Moda"/>
              <a:sym typeface="Bodoni Mod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</a:pPr>
            <a:r>
              <a:t/>
            </a:r>
            <a:endParaRPr b="1" i="0" sz="3300" u="none" cap="none" strike="noStrike">
              <a:solidFill>
                <a:schemeClr val="dk1"/>
              </a:solidFill>
              <a:latin typeface="Bodoni Moda"/>
              <a:ea typeface="Bodoni Moda"/>
              <a:cs typeface="Bodoni Moda"/>
              <a:sym typeface="Bodoni Mod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4722250" y="3103675"/>
            <a:ext cx="5416500" cy="281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p8"/>
          <p:cNvSpPr txBox="1"/>
          <p:nvPr/>
        </p:nvSpPr>
        <p:spPr>
          <a:xfrm>
            <a:off x="5340090" y="3629807"/>
            <a:ext cx="337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doni Moda"/>
              <a:buNone/>
            </a:pPr>
            <a:r>
              <a:rPr b="1" i="0" lang="en-GB" sz="3300" u="none" cap="none" strike="noStrike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rPr>
              <a:t>Questions 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stitutional Law Meeting by Slidesgo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